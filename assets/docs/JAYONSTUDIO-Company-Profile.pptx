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9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261" y="1652012"/>
            <a:ext cx="4295328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7573" y="2909887"/>
            <a:ext cx="7376703" cy="1190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sz="3750" b="0" i="0" u="none">
                <a:solidFill>
                  <a:srgbClr val="FFFFFF"/>
                </a:solidFill>
                <a:latin typeface="Poppins ExtraBold"/>
              </a:rPr>
              <a:t>차세대 산업용 데이터 통합 솔루션</a:t>
            </a:r>
            <a:r>
              <a:t>
</a:t>
            </a:r>
            <a:r>
              <a:rPr sz="3750" b="0" i="0" u="none">
                <a:solidFill>
                  <a:srgbClr val="38BDF8"/>
                </a:solidFill>
                <a:latin typeface="Poppins ExtraBold"/>
              </a:rPr>
              <a:t>JCore &amp; JOPC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7356" y="4291012"/>
            <a:ext cx="5437286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Noto Sans KR"/>
              </a:rPr>
              <a:t>이기종 PLC 데이터 수집부터 표준 OPC UA 상위 연동까지,</a:t>
            </a:r>
            <a:r>
              <a:t>
</a:t>
            </a:r>
            <a:r>
              <a:rPr sz="1650" b="0" i="0" u="none">
                <a:solidFill>
                  <a:srgbClr val="94A3B8"/>
                </a:solidFill>
                <a:latin typeface="Noto Sans KR"/>
              </a:rPr>
              <a:t> 스마트 공장 자동화의 새로운 표준을 제시합니다.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504FB32-38D4-E4B9-5776-1F8519445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65856" y="2061035"/>
            <a:ext cx="1060135" cy="7067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18258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13495"/>
            <a:ext cx="1874921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0B1D3A"/>
                </a:solidFill>
                <a:latin typeface="Poppins"/>
              </a:rPr>
              <a:t>JAYON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소개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357437"/>
            <a:ext cx="560070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B1D3A"/>
                </a:solidFill>
                <a:latin typeface="Poppins"/>
              </a:rPr>
              <a:t>산업 현장의 데이터를 자유롭게 연결하는 </a:t>
            </a:r>
            <a:r>
              <a:rPr sz="2100" b="1" i="0" u="none">
                <a:solidFill>
                  <a:srgbClr val="1D70B8"/>
                </a:solidFill>
                <a:latin typeface="Poppins"/>
              </a:rPr>
              <a:t>스마트 팩토리 전문 기업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27783"/>
            <a:ext cx="53149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41178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고성능 미들웨어 전문: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산업 현장의 다양한 설비(PLC)와 데이터 제어·모니터링 시스템을 효율적으로 연결합니다.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26978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높은 신뢰성의 데이터 처리: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실시간 데이터 수집, 자동 재연결, 정합성 보장을 지원하는 최상의 런타임 환경을 구축합니다.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2778"/>
            <a:ext cx="4991100" cy="490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유연한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시스템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확장성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맞춤형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개발자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프레임워크를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통해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이기종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제조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환경에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최적화된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솔루션을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제공합니다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55466"/>
            <a:ext cx="148232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1266"/>
            <a:ext cx="148232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27066"/>
            <a:ext cx="148232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4797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>
                <a:solidFill>
                  <a:srgbClr val="1D70B8"/>
                </a:solidFill>
                <a:latin typeface="Noto Sans KR"/>
              </a:rPr>
              <a:t>COMPANY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55198"/>
            <a:ext cx="5334000" cy="481583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71500" y="404530"/>
            <a:ext cx="3194461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전체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시스템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아키텍처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403127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1D3A"/>
                </a:solidFill>
                <a:latin typeface="Poppins"/>
              </a:rPr>
              <a:t>하드웨어부터 상위 앱까지 계층화된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60327"/>
            <a:ext cx="5334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JAYON 솔루션은 PLC 디바이스 레벨부터 상위 응용 애플리케이션까지 원활한 데이터 통신을 보장하는 4단계 계층 구조로 설계되었습니다.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32566" y="1947546"/>
            <a:ext cx="2981613" cy="4448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538388"/>
            <a:ext cx="4991100" cy="233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상위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응용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Layer: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개발자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커스텀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프로그램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967013"/>
            <a:ext cx="4991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API / 서비스 Layer: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JCore API, JOPC(OPC UA), 태그 서비스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5638"/>
            <a:ext cx="4991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런타임 / 통신 Layer: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JCore Runtime, PLC 드라이버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24263"/>
            <a:ext cx="4991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하드웨어 Layer: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MELSEC, XGT 등 다양한 이기종 PLC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2676"/>
            <a:ext cx="148232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81301"/>
            <a:ext cx="148232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09926"/>
            <a:ext cx="148232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38551"/>
            <a:ext cx="148232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4797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 dirty="0">
                <a:solidFill>
                  <a:srgbClr val="1D70B8"/>
                </a:solidFill>
                <a:latin typeface="Noto Sans KR"/>
              </a:rPr>
              <a:t>ARCHITECTURE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4565"/>
            <a:ext cx="5334000" cy="27068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74565"/>
            <a:ext cx="5334000" cy="2706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95565"/>
            <a:ext cx="2703619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JCore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프레임워크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179415"/>
            <a:ext cx="488061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70B8"/>
                </a:solidFill>
                <a:latin typeface="Poppins"/>
              </a:rPr>
              <a:t>JCore Runtime (런타임 엔진)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27090"/>
            <a:ext cx="46482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KR"/>
              </a:rPr>
              <a:t>현장의 다양한 PLC 장비와 실시간으로 통신하여 초고속 데이터 수집을 수행합니다. 통신 장애 발생 시 자동 재연결(Auto-Reconnect) 모듈이 작동하여 상위 제어 요청 및 데이터 쓰기 정합성을 신뢰성 높게 보장합니다.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179415"/>
            <a:ext cx="488061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70B8"/>
                </a:solidFill>
                <a:latin typeface="Poppins"/>
              </a:rPr>
              <a:t>통신 드라이버 (Communication Drivers)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627090"/>
            <a:ext cx="46482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국내외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현장에서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가장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광범위하게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사용되는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MELSEC (Mitsubishi), XGT (LS ELECTRIC)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통신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드라이버를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기본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탑재하고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있습니다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.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추가적인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모듈형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통신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드라이버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확장이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용이하도록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설계되었습니다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36515"/>
            <a:ext cx="177849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836515"/>
            <a:ext cx="177849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3004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>
                <a:solidFill>
                  <a:srgbClr val="1D70B8"/>
                </a:solidFill>
                <a:latin typeface="Noto Sans KR"/>
              </a:rPr>
              <a:t>CORE PRODUCT 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8795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08795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08795"/>
            <a:ext cx="3530649" cy="2638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95565"/>
            <a:ext cx="3217589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JCore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핵심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기능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구성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04070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66070"/>
            <a:ext cx="17781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B1D3A"/>
                </a:solidFill>
                <a:latin typeface="Poppins"/>
              </a:rPr>
              <a:t>태그 서비스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37545"/>
            <a:ext cx="30543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Noto Sans KR"/>
              </a:rPr>
              <a:t>수집된 데이터의 </a:t>
            </a:r>
            <a:r>
              <a:rPr sz="1200" b="1" i="0" u="none">
                <a:solidFill>
                  <a:srgbClr val="64748B"/>
                </a:solidFill>
                <a:latin typeface="Noto Sans KR"/>
              </a:rPr>
              <a:t>값(Value)</a:t>
            </a:r>
            <a:r>
              <a:rPr sz="1200" b="0" i="0" u="none">
                <a:solidFill>
                  <a:srgbClr val="64748B"/>
                </a:solidFill>
                <a:latin typeface="Noto Sans KR"/>
              </a:rPr>
              <a:t>, </a:t>
            </a:r>
            <a:r>
              <a:rPr sz="1200" b="1" i="0" u="none">
                <a:solidFill>
                  <a:srgbClr val="64748B"/>
                </a:solidFill>
                <a:latin typeface="Noto Sans KR"/>
              </a:rPr>
              <a:t>품질(Quality)</a:t>
            </a:r>
            <a:r>
              <a:rPr sz="1200" b="0" i="0" u="none">
                <a:solidFill>
                  <a:srgbClr val="64748B"/>
                </a:solidFill>
                <a:latin typeface="Noto Sans KR"/>
              </a:rPr>
              <a:t>, </a:t>
            </a:r>
            <a:r>
              <a:rPr sz="1200" b="1" i="0" u="none">
                <a:solidFill>
                  <a:srgbClr val="64748B"/>
                </a:solidFill>
                <a:latin typeface="Noto Sans KR"/>
              </a:rPr>
              <a:t>시간(Timestamp)</a:t>
            </a:r>
            <a:r>
              <a:rPr sz="1200" b="0" i="0" u="none">
                <a:solidFill>
                  <a:srgbClr val="64748B"/>
                </a:solidFill>
                <a:latin typeface="Noto Sans KR"/>
              </a:rPr>
              <a:t>을 실시간으로 관리하고, 변경점 발생 시 태그 단위 실시간 구독(Publish/Subscribe) 처리를 수행합니다.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04070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874" y="3566070"/>
            <a:ext cx="159301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B1D3A"/>
                </a:solidFill>
                <a:latin typeface="Poppins"/>
              </a:rPr>
              <a:t>JCore API &amp; DLL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899445"/>
            <a:ext cx="30543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Noto Sans KR"/>
              </a:rPr>
              <a:t>표준화된 JCoreClient.dll 라이브러리를 통하여 C#, C++, .NET 기반 개발자가 자유롭게 커스텀 애플리케이션을 개발하고 데이터 조회·쓰기를 연동할 수 있습니다.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804070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8123" y="3566070"/>
            <a:ext cx="298533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B1D3A"/>
                </a:solidFill>
                <a:latin typeface="Poppins"/>
              </a:rPr>
              <a:t>JHMI</a:t>
            </a:r>
            <a:r>
              <a:rPr lang="en-US" sz="1500" b="1" i="0" u="none" dirty="0">
                <a:solidFill>
                  <a:srgbClr val="0B1D3A"/>
                </a:solidFill>
                <a:latin typeface="Poppins"/>
              </a:rPr>
              <a:t>/SCADA</a:t>
            </a:r>
            <a:r>
              <a:rPr sz="150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0B1D3A"/>
                </a:solidFill>
                <a:latin typeface="Poppins"/>
              </a:rPr>
              <a:t>시스템</a:t>
            </a:r>
            <a:r>
              <a:rPr sz="150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1500" b="1" i="0" u="none" dirty="0" err="1">
                <a:solidFill>
                  <a:srgbClr val="0B1D3A"/>
                </a:solidFill>
                <a:latin typeface="Poppins"/>
              </a:rPr>
              <a:t>연동</a:t>
            </a:r>
            <a:r>
              <a:rPr lang="en-US" sz="1500" b="1" i="0" u="none" dirty="0">
                <a:solidFill>
                  <a:srgbClr val="0B1D3A"/>
                </a:solidFill>
                <a:latin typeface="Poppins"/>
              </a:rPr>
              <a:t>(</a:t>
            </a:r>
            <a:r>
              <a:rPr lang="ko-KR" altLang="en-US" sz="1500" b="1" i="0" u="none" dirty="0" err="1">
                <a:solidFill>
                  <a:srgbClr val="0B1D3A"/>
                </a:solidFill>
                <a:latin typeface="Poppins"/>
              </a:rPr>
              <a:t>미구현</a:t>
            </a:r>
            <a:r>
              <a:rPr lang="en-US" altLang="ko-KR" sz="1500" b="1" i="0" u="none" dirty="0">
                <a:solidFill>
                  <a:srgbClr val="0B1D3A"/>
                </a:solidFill>
                <a:latin typeface="Poppins"/>
              </a:rPr>
              <a:t>)</a:t>
            </a:r>
            <a:endParaRPr sz="150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8124" y="3937545"/>
            <a:ext cx="30543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Noto Sans KR"/>
              </a:rPr>
              <a:t>JCore 런타임 플랫폼과 완벽하게 통합되는 직관적인 사용자 인터페이스 모듈(JHMI)을 제공하여 현장 공정 모니터링 및 제어를 즉시 실현합니다.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934" y="2965995"/>
            <a:ext cx="192732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183" y="2965995"/>
            <a:ext cx="192732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7433" y="2965995"/>
            <a:ext cx="192732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3004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>
                <a:solidFill>
                  <a:srgbClr val="1D70B8"/>
                </a:solidFill>
                <a:latin typeface="Noto Sans KR"/>
              </a:rPr>
              <a:t>KEY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39540"/>
            <a:ext cx="5286375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>
                <a:solidFill>
                  <a:srgbClr val="1D70B8"/>
                </a:solidFill>
                <a:latin typeface="Noto Sans KR"/>
              </a:rPr>
              <a:t>CORE PRODUCT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2542430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896105"/>
            <a:ext cx="2000718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0B1D3A"/>
                </a:solidFill>
                <a:latin typeface="Poppins"/>
              </a:rPr>
              <a:t>JOPC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솔루션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2742455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B1D3A"/>
                </a:solidFill>
                <a:latin typeface="Poppins"/>
              </a:rPr>
              <a:t>OPC UA 글로벌 표준 통신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18705"/>
            <a:ext cx="52863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 err="1">
                <a:solidFill>
                  <a:srgbClr val="475569"/>
                </a:solidFill>
                <a:latin typeface="Noto Sans KR"/>
              </a:rPr>
              <a:t>JOPC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는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이기종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스마트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공장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상위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시스템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(MES, ERP, SCADA)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과의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완벽한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통합을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위한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1" i="0" u="none" dirty="0">
                <a:solidFill>
                  <a:srgbClr val="475569"/>
                </a:solidFill>
                <a:latin typeface="Noto Sans KR"/>
              </a:rPr>
              <a:t>OPC UA </a:t>
            </a:r>
            <a:r>
              <a:rPr sz="1275" b="1" i="0" u="none" dirty="0" err="1">
                <a:solidFill>
                  <a:srgbClr val="475569"/>
                </a:solidFill>
                <a:latin typeface="Noto Sans KR"/>
              </a:rPr>
              <a:t>서버</a:t>
            </a:r>
            <a:r>
              <a:rPr sz="1275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1" i="0" u="none" dirty="0" err="1">
                <a:solidFill>
                  <a:srgbClr val="475569"/>
                </a:solidFill>
                <a:latin typeface="Noto Sans KR"/>
              </a:rPr>
              <a:t>인터페이스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를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Noto Sans KR"/>
              </a:rPr>
              <a:t>제공합니다</a:t>
            </a:r>
            <a:r>
              <a:rPr sz="1275" b="0" i="0" u="none" dirty="0">
                <a:solidFill>
                  <a:srgbClr val="475569"/>
                </a:solidFill>
                <a:latin typeface="Noto Sans K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889027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Noto Sans KR"/>
              </a:rPr>
              <a:t>JCore의 태그 서비스와 직접 연동되어 별도의 복잡한 변환 작업 없이 산업 표준 보안 프로토콜을 적용한 안전하고 신속한 데이터 통신 환경을 구축할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13495"/>
            <a:ext cx="4672771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0B1D3A"/>
                </a:solidFill>
                <a:latin typeface="Poppins"/>
              </a:rPr>
              <a:t>JAYON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솔루션의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4대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핵심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강점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95690"/>
            <a:ext cx="1070610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개발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편의성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및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자유도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극대화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JCoreClient.dll 및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JCore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API를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제공하여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자체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HMI뿐만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아니라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고객사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맞춤형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프로그램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개발이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용이합니다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4145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이기종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PLC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통합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0B1D3A"/>
                </a:solidFill>
                <a:latin typeface="Noto Sans KR"/>
              </a:rPr>
              <a:t>제어</a:t>
            </a:r>
            <a:r>
              <a:rPr sz="1350" b="1" i="0" u="none" dirty="0">
                <a:solidFill>
                  <a:srgbClr val="0B1D3A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MELSEC, XGT 등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주요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PLC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드라이버가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기본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탑재되어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공장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내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이기종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장비의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데이터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단일화를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실현합니다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32770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글로벌 스마트 팩토리 표준 준수: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JOPC를 통한 OPC UA 인터페이스 지원으로 상위 스마트 공장 플랫폼과의 연결성을 극대화합니다.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61395"/>
            <a:ext cx="10706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B1D3A"/>
                </a:solidFill>
                <a:latin typeface="Noto Sans KR"/>
              </a:rPr>
              <a:t>무중단 안정성 확보: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고성능 JCore Runtime의 데이터 신뢰성 검증(Quality Stamp) 및 장애 시 자동 재연결 기능으로 현장 신뢰성을 보장합니다.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09978"/>
            <a:ext cx="148232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18433"/>
            <a:ext cx="148232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7058"/>
            <a:ext cx="148232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75683"/>
            <a:ext cx="14823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3004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>
                <a:solidFill>
                  <a:srgbClr val="1D70B8"/>
                </a:solidFill>
                <a:latin typeface="Noto Sans KR"/>
              </a:rPr>
              <a:t>WHY CHOOSE JAYON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95565"/>
            <a:ext cx="4043474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적용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분야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및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활용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시나리오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64968"/>
              </p:ext>
            </p:extLst>
          </p:nvPr>
        </p:nvGraphicFramePr>
        <p:xfrm>
          <a:off x="571500" y="1834753"/>
          <a:ext cx="11049000" cy="3986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33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적용 분야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핵심 내용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적용 솔루션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KR"/>
                        </a:rPr>
                        <a:t>스마트 공장 구축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이기종 PLC 설비의 데이터 수집 표준화 및 실시간 공정 데이터 통합 관리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JCore Runtime + 드라이버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KR"/>
                        </a:rPr>
                        <a:t>상위 시스템 연동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MES / ERP / SCADA 등 스마트 팩토리 상위 솔루션과 글로벌 표준 통신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JOPC (OPC UA Connector)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맞춤형</a:t>
                      </a:r>
                      <a:r>
                        <a:rPr lang="en-US" sz="120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커스텀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개발</a:t>
                      </a:r>
                      <a:endParaRPr sz="1200" b="1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고객사 특화 공정 모니터링 프로그램 및 자체 사용자 인터페이스 개발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JCore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API + JCoreClient.dll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33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Noto Sans KR"/>
                        </a:rPr>
                        <a:t>IIoT 데이터 게이트웨이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현장 제조 데이터의 실시간 값·시간·품질 태그 관리 및 상위 클라우드 전송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JCore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태그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서비스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44718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3750" y="244718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53350" y="244718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287166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3750" y="3287166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53350" y="3287166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12715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3750" y="4127152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53350" y="4127152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96713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3750" y="4967138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53350" y="4967138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807124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3750" y="5807124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53350" y="5807124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3004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 dirty="0">
                <a:solidFill>
                  <a:srgbClr val="1D70B8"/>
                </a:solidFill>
                <a:latin typeface="Noto Sans KR"/>
              </a:rPr>
              <a:t>APPLICATIONS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4545"/>
            <a:ext cx="5334000" cy="2066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68674"/>
            <a:ext cx="2613764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도입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효과</a:t>
            </a:r>
            <a:r>
              <a:rPr sz="2550" b="1" i="0" u="none" dirty="0">
                <a:solidFill>
                  <a:srgbClr val="0B1D3A"/>
                </a:solidFill>
                <a:latin typeface="Poppins"/>
              </a:rPr>
              <a:t> 및 </a:t>
            </a:r>
            <a:r>
              <a:rPr sz="2550" b="1" i="0" u="none" dirty="0" err="1">
                <a:solidFill>
                  <a:srgbClr val="0B1D3A"/>
                </a:solidFill>
                <a:latin typeface="Poppins"/>
              </a:rPr>
              <a:t>비전</a:t>
            </a:r>
            <a:endParaRPr sz="2550" b="1" i="0" u="none" dirty="0">
              <a:solidFill>
                <a:srgbClr val="0B1D3A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4353" y="3292082"/>
            <a:ext cx="3702423" cy="990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0" i="0" u="none" dirty="0">
                <a:solidFill>
                  <a:srgbClr val="38BDF8"/>
                </a:solidFill>
                <a:latin typeface="Poppins ExtraBold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6525" y="4537061"/>
            <a:ext cx="20637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FFFFFF"/>
                </a:solidFill>
                <a:latin typeface="Noto Sans KR SemiBold"/>
              </a:rPr>
              <a:t>데이터</a:t>
            </a:r>
            <a:r>
              <a:rPr sz="1500" b="0" i="0" u="none" dirty="0">
                <a:solidFill>
                  <a:srgbClr val="FFFFFF"/>
                </a:solidFill>
                <a:latin typeface="Noto Sans KR SemiBold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Noto Sans KR SemiBold"/>
              </a:rPr>
              <a:t>통신</a:t>
            </a:r>
            <a:r>
              <a:rPr sz="1500" b="0" i="0" u="none" dirty="0">
                <a:solidFill>
                  <a:srgbClr val="FFFFFF"/>
                </a:solidFill>
                <a:latin typeface="Noto Sans KR SemiBold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Noto Sans KR SemiBold"/>
              </a:rPr>
              <a:t>정합성</a:t>
            </a:r>
            <a:r>
              <a:rPr sz="1500" b="0" i="0" u="none" dirty="0">
                <a:solidFill>
                  <a:srgbClr val="FFFFFF"/>
                </a:solidFill>
                <a:latin typeface="Noto Sans KR SemiBold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Noto Sans KR SemiBold"/>
              </a:rPr>
              <a:t>보장</a:t>
            </a:r>
            <a:endParaRPr sz="1500" b="0" i="0" u="none" dirty="0">
              <a:solidFill>
                <a:srgbClr val="FFFFFF"/>
              </a:solidFill>
              <a:latin typeface="Noto Sans KR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6500" y="2922240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B1D3A"/>
                </a:solidFill>
                <a:latin typeface="Poppins"/>
              </a:rPr>
              <a:t>스마트 제조 데이터 통합의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408015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KR"/>
              </a:rPr>
              <a:t>JAYON의 JCore와 JOPC는 제조 현장의 복잡하고 파편화된 데이터를 하나로 묶어주는 강력한 디지털 전환(DX)의 교량 역할을 수행합니다.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070895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KR"/>
              </a:rPr>
              <a:t>시스템 구축 시간 단축, 유지보수 비용 절감, 데이터 품질 안정화를 통해 최적의 스마트 팩토리 생태계를 제공합니다.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0040"/>
            <a:ext cx="11049000" cy="39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200" b="1" i="0" u="none">
                <a:solidFill>
                  <a:srgbClr val="1D70B8"/>
                </a:solidFill>
                <a:latin typeface="Noto Sans KR"/>
              </a:rPr>
              <a:t>BUSINESS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97914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258" y="2495802"/>
            <a:ext cx="6047333" cy="600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996657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>
                <a:solidFill>
                  <a:srgbClr val="FFFFFF"/>
                </a:solidFill>
                <a:latin typeface="Poppins Extra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44382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Noto Sans KR"/>
              </a:rPr>
              <a:t>JAYON Industrial Solutions가 성공적인 스마트 팩토리 구축을 함께하겠습니다.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2783" y="2612703"/>
            <a:ext cx="2312491" cy="20002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38BDF8"/>
                </a:solidFill>
                <a:latin typeface="Noto Sans KR Medium"/>
              </a:rPr>
              <a:t>JAYON Industrial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275" y="2677355"/>
            <a:ext cx="2572791" cy="200025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38BDF8"/>
                </a:solidFill>
                <a:latin typeface="Noto Sans KR Medium"/>
              </a:rPr>
              <a:t>Core Products: </a:t>
            </a:r>
            <a:r>
              <a:rPr sz="1350" b="0" i="0" u="none" dirty="0" err="1">
                <a:solidFill>
                  <a:srgbClr val="38BDF8"/>
                </a:solidFill>
                <a:latin typeface="Noto Sans KR Medium"/>
              </a:rPr>
              <a:t>JCore</a:t>
            </a:r>
            <a:r>
              <a:rPr sz="1350" b="0" i="0" u="none" dirty="0">
                <a:solidFill>
                  <a:srgbClr val="38BDF8"/>
                </a:solidFill>
                <a:latin typeface="Noto Sans KR Medium"/>
              </a:rPr>
              <a:t> &amp; JOPC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783" y="2705352"/>
            <a:ext cx="133498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275" y="2705352"/>
            <a:ext cx="133498" cy="171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73FB69-C728-A68B-6671-6C078550B1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65856" y="229057"/>
            <a:ext cx="1060135" cy="706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681</Words>
  <Application>Microsoft Office PowerPoint</Application>
  <PresentationFormat>와이드스크린</PresentationFormat>
  <Paragraphs>69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Noto Sans KR</vt:lpstr>
      <vt:lpstr>Noto Sans KR Medium</vt:lpstr>
      <vt:lpstr>Noto Sans KR SemiBold</vt:lpstr>
      <vt:lpstr>Arial</vt:lpstr>
      <vt:lpstr>Calibri</vt:lpstr>
      <vt:lpstr>Poppins</vt:lpstr>
      <vt:lpstr>Poppins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BEAN</cp:lastModifiedBy>
  <cp:revision>14</cp:revision>
  <dcterms:created xsi:type="dcterms:W3CDTF">2013-01-27T09:14:16Z</dcterms:created>
  <dcterms:modified xsi:type="dcterms:W3CDTF">2026-09-30T00:26:43Z</dcterms:modified>
  <cp:category/>
</cp:coreProperties>
</file>