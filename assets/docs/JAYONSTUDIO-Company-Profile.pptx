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내용 기준: 사용자와 JSolution 개발 대화 및 기존 소개서. 브랜드는 JAYONSTUDIO로 표기합니다. 표지 이미지: 기존 홈페이지 assets/automation-factory.png, AI로 제작한 산업자동화 개념 이미지이며 실제 고객 현장 사진이 아닙니다. 회사 심볼: 사용자 제공 Logo.png를 기반으로 승인된 투명 아이콘 자산.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기존 소개서의 산업 데이터 연결 목적, 현재 홈페이지의 제품 역할, 개발 대화의 설치·진단 기능. 제어실 이미지는 홈페이지용 AI 개념 시각 자료이며 실제 납품 현장을 의미하지 않습니다. 회사 실적·설립 연도·인력·고객 수 등 확인되지 않은 정보는 주장하지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현재 브랜드/명칭 기준: JCore, JView, PLC Simulator, JSolution. 기존 JOPC는 독립 제품 소개 대신 JCore의 OPC UA 인터페이스로 설명합니다. 초기 JHMI 예정 표현은 현재 JView로 정리합니다. 근거: 사용자 대화 및 현재 홈페이지 제품 페이지.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현재 jcore.html, JCore 제품소개서 및 진단 통합 확인. 이미지: 홈페이지 jcore-core-photo.png, AI 개념 시각 자료. OPC UA와 SDK의 제공 범위 및 라이선스는 설치 버전에 따라 확인합니다. 성능·응답 시간·가용성 수치는 검증 자료가 없어 포함하지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사용자가 지정한 JView 설명, 현재 jview.html 및 JView 제품소개서. jview-designer.png는 제공된 제품소개서에서 추출한 개발 예시 화면이며 화면 구성은 설치 버전에 따라 달라질 수 있습니다. 제품 계정·권한과 진단기의 이력 조회 권한은 별도입니다.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현재 simulator.html, 제공 Simulator 제품소개서와 1.0.71 배포 원본. 화면은 제공된 예시 자료입니다. 실제 PLC CPU의 모든 명령을 재현하지 않으며, 프로토콜별 지원 범위와 상용 클라이언트 호환성은 개별 확인이 필요합니다. Simulator 설치 후 프로그램 실행 중에 진단 API를 제공합니다.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JSolution 1.0.10/1.0.11 대시보드 구현 및 실제 개발 환경 UI 검증. 화면은 당시 설정된 OPC UA IP 오류와 PLC 미연결을 보여주는 개발 환경 캡처입니다. 이력 조회 시 관리자 인증을 사용하며 제품의 실제 제공 이벤트를 표시합니다. 수집 실패 시 과거 Snapshot을 현재 상태로 단정하지 않습니다. 원인·조치가 없는 코드는 일반 점검 안내를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통합 Burn/MSI 구성 및 사용자 요청. JSolution 진단기 필수, 제품 MSI/Simulator EXE 선택 설치, .NET Framework 4.8 오프라인 포함. 실제 환경의 설치·서비스 시작·업데이트는 추가 확인이 필요합니다. 사용자 지정 포트와 진단 키 경로는 운영 설정에 반영해야 합니다. 웹 페이지의 일반 조회와 제품 관리는 구분됩니다.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본 페이지는 제품 기능에 기반한 적용 시나리오이며 납품 실적이나 고객 사례를 의미하지 않습니다. 근거: 원본 소개서 적용 분야와 현재 제품 역할. 수치로 표현한 시간·비용 절감 또는 가용성 개선 효과는 검증 자료가 없어 제외했습니다.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연락처 이메일: 사용자가 지정한 rlawngur4776@naver.com. 홈페이지: 현재 공개 JAYON-STUDIO GitHub Pages 주소.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2AB9C56-AD3E-4CF5-8CCC-4BF4FE760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4DB8C4F-5C9C-4008-A40B-A1BF2BB5E0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F8E1B1C7-ACC3-483D-A123-09F0FA847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AACF02-8446-4AEB-912F-2A86510D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5DA0358-1B6E-47D7-B93E-CE11B2187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275BCF8-F1CC-479D-B50A-21A93F423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242810D-E31D-4552-856E-E4E1FDE0EF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442818C7-C251-4981-B23D-52F1998FD91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0D7F3D9-A649-4E31-96E2-51D7737F5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0AFD2F9-348D-451A-9216-DB58CD3741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CAA73114-C161-46F8-ADD4-6134F4A1C9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96" r="21296"/>
          <a:stretch>
            <a:fillRect/>
          </a:stretch>
        </p:blipFill>
        <p:spPr>
          <a:xfrm>
            <a:off x="6286500" y="0"/>
            <a:ext cx="5905500" cy="68580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6C0940-3827-4F5D-AF61-C0ECA72EC4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552450"/>
            <a:ext cx="1047750" cy="104775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ED036218-4EAD-4CA8-9C6C-0066F4DC966C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5238750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43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JAYONSTUDIO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0878CC0-F0B8-4473-9A51-D9FD91720505}"/>
              </a:ext>
            </a:extLst>
          </p:cNvPr>
          <p:cNvSpPr>
            <a:spLocks noGrp="1"/>
          </p:cNvSpPr>
          <p:nvPr/>
        </p:nvSpPr>
        <p:spPr>
          <a:xfrm>
            <a:off x="628650" y="3171825"/>
            <a:ext cx="5143500" cy="1428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1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375" b="1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3375" b="1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산업용 소프트웨어</a:t>
            </a:r>
          </a:p>
          <a:p>
            <a:pPr algn="l">
              <a:lnSpc>
                <a:spcPct val="115000"/>
              </a:lnSpc>
              <a:buNone/>
              <a:defRPr sz="3375" b="1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3375" b="1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&amp; 솔루션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0DCED4-78EB-48BD-AFE5-468DEAD1B91E}"/>
              </a:ext>
            </a:extLst>
          </p:cNvPr>
          <p:cNvSpPr>
            <a:spLocks noGrp="1"/>
          </p:cNvSpPr>
          <p:nvPr/>
        </p:nvSpPr>
        <p:spPr>
          <a:xfrm>
            <a:off x="647700" y="4962525"/>
            <a:ext cx="49530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0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현장 데이터 연결과 웹 운영,</a:t>
            </a:r>
          </a:p>
          <a:p>
            <a:pPr algn="l">
              <a:lnSpc>
                <a:spcPct val="115000"/>
              </a:lnSpc>
              <a:buNone/>
              <a:defRPr sz="20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설치와 진단을 위한 제품군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66CEF54-198F-417C-BCD1-02AB96D48C1B}"/>
              </a:ext>
            </a:extLst>
          </p:cNvPr>
          <p:cNvSpPr>
            <a:spLocks noGrp="1"/>
          </p:cNvSpPr>
          <p:nvPr/>
        </p:nvSpPr>
        <p:spPr>
          <a:xfrm>
            <a:off x="647700" y="6334125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27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소개서  /  2026.10</a:t>
            </a:r>
          </a:p>
        </p:txBody>
      </p:sp>
    </p:spTree>
    <p:extLst>
      <p:ext uri="{BB962C8B-B14F-4D97-AF65-F5344CB8AC3E}">
        <p14:creationId xmlns:p14="http://schemas.microsoft.com/office/powerpoint/2010/main" val="1910670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61A285FD-3D19-47C3-BF8F-011934376097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산업 현장의 데이터와 운영 소프트웨어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6873EEC-5178-4361-8DD8-F9DD4885C4F5}"/>
              </a:ext>
            </a:extLst>
          </p:cNvPr>
          <p:cNvSpPr>
            <a:spLocks noGrp="1"/>
          </p:cNvSpPr>
          <p:nvPr/>
        </p:nvSpPr>
        <p:spPr>
          <a:xfrm>
            <a:off x="628650" y="1362075"/>
            <a:ext cx="108394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JAYONSTUDIO는 현장 연결부터 화면 운영과 진단까지 필요한 도구를 개발합니다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3B29168-2015-44CB-B197-1A1951FB238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33337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JAYONSTUDIO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ADA8B14-406B-4302-80CF-0137E9EB614E}"/>
              </a:ext>
            </a:extLst>
          </p:cNvPr>
          <p:cNvSpPr>
            <a:spLocks noGrp="1"/>
          </p:cNvSpPr>
          <p:nvPr/>
        </p:nvSpPr>
        <p:spPr>
          <a:xfrm>
            <a:off x="11029950" y="64008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924A83A-F78A-4516-AB2C-3F2BD445942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219700" cy="1104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5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서로 다른 장비의 데이터를</a:t>
            </a:r>
          </a:p>
          <a:p>
            <a:pPr algn="l">
              <a:lnSpc>
                <a:spcPct val="115000"/>
              </a:lnSpc>
              <a:buNone/>
              <a:defRPr sz="25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응용 프로그램에 연결합니다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C29934-9A75-418A-9DF0-7CB639DF6264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5143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PLC 통신과 공통 태그 데이터를 바탕으로</a:t>
            </a:r>
          </a:p>
          <a:p>
            <a:pPr algn="l">
              <a:lnSpc>
                <a:spcPct val="115000"/>
              </a:lnSpc>
              <a:buNone/>
              <a:def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운영 화면과 맞춤형 시스템을 구성합니다.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25F2BCA-8E3F-4928-A3EC-E66439894B48}"/>
              </a:ext>
            </a:extLst>
          </p:cNvPr>
          <p:cNvSpPr>
            <a:spLocks noGrp="1"/>
          </p:cNvSpPr>
          <p:nvPr/>
        </p:nvSpPr>
        <p:spPr>
          <a:xfrm>
            <a:off x="609600" y="4914900"/>
            <a:ext cx="5219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개발 단계에서는 가상 PLC로 통신을 시험하고,</a:t>
            </a:r>
          </a:p>
          <a:p>
            <a:pPr algn="l">
              <a:lnSpc>
                <a:spcPct val="115000"/>
              </a:lnSpc>
              <a:buNone/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운영 단계에서는 제품 상태와 문제 원인을 확인합니다.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031D588-85F6-4379-A510-EB67077611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3" r="313"/>
          <a:stretch>
            <a:fillRect/>
          </a:stretch>
        </p:blipFill>
        <p:spPr>
          <a:xfrm>
            <a:off x="6286500" y="2333625"/>
            <a:ext cx="5295900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810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5690F99C-1D37-4D21-8EF3-3E7C78E53F00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제품 구성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2C098B3-B731-4850-9D73-B627F8D148C9}"/>
              </a:ext>
            </a:extLst>
          </p:cNvPr>
          <p:cNvSpPr>
            <a:spLocks noGrp="1"/>
          </p:cNvSpPr>
          <p:nvPr/>
        </p:nvSpPr>
        <p:spPr>
          <a:xfrm>
            <a:off x="628650" y="1362075"/>
            <a:ext cx="108394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제품별 역할을 구분하고 현장에 필요한 구성을 선택합니다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59B66A6-758B-429C-A821-D97887F1129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33337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JAYONSTUDIO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B9C8CDE-5293-4B70-8E00-030619AB94C1}"/>
              </a:ext>
            </a:extLst>
          </p:cNvPr>
          <p:cNvSpPr>
            <a:spLocks noGrp="1"/>
          </p:cNvSpPr>
          <p:nvPr/>
        </p:nvSpPr>
        <p:spPr>
          <a:xfrm>
            <a:off x="11029950" y="64008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53B9983-417A-448E-98B5-C7580C2D7B1A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323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JCore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001D95C-CA9D-42C7-99AC-68A2CBC59971}"/>
              </a:ext>
            </a:extLst>
          </p:cNvPr>
          <p:cNvSpPr>
            <a:spLocks noGrp="1"/>
          </p:cNvSpPr>
          <p:nvPr/>
        </p:nvSpPr>
        <p:spPr>
          <a:xfrm>
            <a:off x="4114800" y="2238375"/>
            <a:ext cx="7048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현장 데이터 연결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43B3915-AA95-44A4-BF5F-413025425A10}"/>
              </a:ext>
            </a:extLst>
          </p:cNvPr>
          <p:cNvSpPr>
            <a:spLocks noGrp="1"/>
          </p:cNvSpPr>
          <p:nvPr/>
        </p:nvSpPr>
        <p:spPr>
          <a:xfrm>
            <a:off x="4114800" y="2667000"/>
            <a:ext cx="7086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PLC 데이터를 수집하고 태그 서비스와 OPC UA·SDK 연동을 제공합니다.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734222-C1CA-4511-BAFC-F47C02BE67C5}"/>
              </a:ext>
            </a:extLst>
          </p:cNvPr>
          <p:cNvSpPr>
            <a:spLocks noGrp="1"/>
          </p:cNvSpPr>
          <p:nvPr/>
        </p:nvSpPr>
        <p:spPr>
          <a:xfrm>
            <a:off x="609600" y="3190875"/>
            <a:ext cx="323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JView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17C6A36-3788-448A-86AC-3297CA582780}"/>
              </a:ext>
            </a:extLst>
          </p:cNvPr>
          <p:cNvSpPr>
            <a:spLocks noGrp="1"/>
          </p:cNvSpPr>
          <p:nvPr/>
        </p:nvSpPr>
        <p:spPr>
          <a:xfrm>
            <a:off x="4114800" y="3190875"/>
            <a:ext cx="7048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웹 SCADA / HMI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5271D9-483F-40C9-9B57-BBBFA7E0B77F}"/>
              </a:ext>
            </a:extLst>
          </p:cNvPr>
          <p:cNvSpPr>
            <a:spLocks noGrp="1"/>
          </p:cNvSpPr>
          <p:nvPr/>
        </p:nvSpPr>
        <p:spPr>
          <a:xfrm>
            <a:off x="4114800" y="3619500"/>
            <a:ext cx="7086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Designer와 Runtime을 웹에서 사용해 운영 화면을 구성합니다.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5A74D98-842E-4B4C-AEE1-1E4AB894D59A}"/>
              </a:ext>
            </a:extLst>
          </p:cNvPr>
          <p:cNvSpPr>
            <a:spLocks noGrp="1"/>
          </p:cNvSpPr>
          <p:nvPr/>
        </p:nvSpPr>
        <p:spPr>
          <a:xfrm>
            <a:off x="609600" y="4143375"/>
            <a:ext cx="323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PLC Simulator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896B8A3-9AC6-4788-A830-85CBD2F733A8}"/>
              </a:ext>
            </a:extLst>
          </p:cNvPr>
          <p:cNvSpPr>
            <a:spLocks noGrp="1"/>
          </p:cNvSpPr>
          <p:nvPr/>
        </p:nvSpPr>
        <p:spPr>
          <a:xfrm>
            <a:off x="4114800" y="4143375"/>
            <a:ext cx="7048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가상 PLC 통신 테스트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1704AD1-802E-4374-AB3E-8E81785FBBE4}"/>
              </a:ext>
            </a:extLst>
          </p:cNvPr>
          <p:cNvSpPr>
            <a:spLocks noGrp="1"/>
          </p:cNvSpPr>
          <p:nvPr/>
        </p:nvSpPr>
        <p:spPr>
          <a:xfrm>
            <a:off x="4114800" y="4572000"/>
            <a:ext cx="7086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실제 장비 연결 전 통신과 메모리·태그 동작을 시험합니다.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EDAFEB7-EF4F-4AE4-8C4C-FDB3C6A3C142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323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JSolution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CFEF255-4B6F-4BA7-A68F-B33C61B297B3}"/>
              </a:ext>
            </a:extLst>
          </p:cNvPr>
          <p:cNvSpPr>
            <a:spLocks noGrp="1"/>
          </p:cNvSpPr>
          <p:nvPr/>
        </p:nvSpPr>
        <p:spPr>
          <a:xfrm>
            <a:off x="4114800" y="5095875"/>
            <a:ext cx="7048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통합 설치와 진단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5E171A3-FAD1-40CD-B021-C9C324913D11}"/>
              </a:ext>
            </a:extLst>
          </p:cNvPr>
          <p:cNvSpPr>
            <a:spLocks noGrp="1"/>
          </p:cNvSpPr>
          <p:nvPr/>
        </p:nvSpPr>
        <p:spPr>
          <a:xfrm>
            <a:off x="4114800" y="5524500"/>
            <a:ext cx="7086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제품을 선택 설치하고 현재 문제의 원인과 조치를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088768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96D4C1EB-2DD0-43B4-9AAD-B754C438B8B8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JCore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20988B-3FEF-4407-BBD7-594E86DE6510}"/>
              </a:ext>
            </a:extLst>
          </p:cNvPr>
          <p:cNvSpPr>
            <a:spLocks noGrp="1"/>
          </p:cNvSpPr>
          <p:nvPr/>
        </p:nvSpPr>
        <p:spPr>
          <a:xfrm>
            <a:off x="628650" y="1362075"/>
            <a:ext cx="108394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PLC 데이터 수집과 공통 태그 서비스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63CA60F-DF2D-488D-9420-077EA21372C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33337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JAYONSTUDIO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A6992DC-605C-4E68-993B-6930414BEDB6}"/>
              </a:ext>
            </a:extLst>
          </p:cNvPr>
          <p:cNvSpPr>
            <a:spLocks noGrp="1"/>
          </p:cNvSpPr>
          <p:nvPr/>
        </p:nvSpPr>
        <p:spPr>
          <a:xfrm>
            <a:off x="11029950" y="64008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5CBF4C4-6DF4-40FC-A719-72EB5F315980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5334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PLC 통신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CEB22F4-B08C-4452-9149-2470FE95B931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54102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MELSEC·LS XGT 등 통신 드라이버로 연결하고</a:t>
            </a:r>
          </a:p>
          <a:p>
            <a:pPr algn="l">
              <a:lnSpc>
                <a:spcPct val="115000"/>
              </a:lnSpc>
              <a:buNone/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연결 상태와 재연결을 관리합니다.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063F9AA-ECB6-4F5E-A5B7-0747BEDEA22B}"/>
              </a:ext>
            </a:extLst>
          </p:cNvPr>
          <p:cNvSpPr>
            <a:spLocks noGrp="1"/>
          </p:cNvSpPr>
          <p:nvPr/>
        </p:nvSpPr>
        <p:spPr>
          <a:xfrm>
            <a:off x="609600" y="3790950"/>
            <a:ext cx="5334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값과 품질, 시간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C2C8F5E-3A75-45A7-832A-0E72CA55F416}"/>
              </a:ext>
            </a:extLst>
          </p:cNvPr>
          <p:cNvSpPr>
            <a:spLocks noGrp="1"/>
          </p:cNvSpPr>
          <p:nvPr/>
        </p:nvSpPr>
        <p:spPr>
          <a:xfrm>
            <a:off x="609600" y="4295775"/>
            <a:ext cx="54102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태그의 값·품질·시간 정보를 관리하고</a:t>
            </a:r>
          </a:p>
          <a:p>
            <a:pPr algn="l">
              <a:lnSpc>
                <a:spcPct val="115000"/>
              </a:lnSpc>
              <a:buNone/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변경 구독으로 응용 프로그램에 전달합니다.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1C7D790-5FAC-4474-B530-E75B4C7D8477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533400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OPC UA와 SDK로 상위 시스템 및</a:t>
            </a:r>
          </a:p>
          <a:p>
            <a:pPr algn="l">
              <a:lnSpc>
                <a:spcPct val="115000"/>
              </a:lnSpc>
              <a:buNone/>
              <a:defRPr sz="18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맞춤형 프로그램을 연동합니다.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4048D05-F7DD-427B-8401-5E2B667D3B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67" r="4667"/>
          <a:stretch>
            <a:fillRect/>
          </a:stretch>
        </p:blipFill>
        <p:spPr>
          <a:xfrm>
            <a:off x="6400800" y="2238375"/>
            <a:ext cx="51816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9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BA202D-219F-40CB-8711-8CEC436FEEAA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JView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DDB37F3-106D-4658-9343-02B11BACFCF7}"/>
              </a:ext>
            </a:extLst>
          </p:cNvPr>
          <p:cNvSpPr>
            <a:spLocks noGrp="1"/>
          </p:cNvSpPr>
          <p:nvPr/>
        </p:nvSpPr>
        <p:spPr>
          <a:xfrm>
            <a:off x="628650" y="1362075"/>
            <a:ext cx="108394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Designer와 Runtime이 웹에서 동작하는 SCADA / HMI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E2B7F1A-1511-4A11-AA89-CB0237E749A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33337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JAYONSTUDIO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78FBC17-B675-490D-9540-52E67A49FB6A}"/>
              </a:ext>
            </a:extLst>
          </p:cNvPr>
          <p:cNvSpPr>
            <a:spLocks noGrp="1"/>
          </p:cNvSpPr>
          <p:nvPr/>
        </p:nvSpPr>
        <p:spPr>
          <a:xfrm>
            <a:off x="11029950" y="64008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ABCAFAE-1204-47A7-8645-2BD6AB4C798B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4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웹에서 화면을 설계하고 운영합니다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B6761E-D12A-4C04-978E-18B449A71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4108" y="3000375"/>
            <a:ext cx="5198533" cy="292417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11ABF00-9F95-4332-8D13-5F5C209A45CC}"/>
              </a:ext>
            </a:extLst>
          </p:cNvPr>
          <p:cNvSpPr>
            <a:spLocks noGrp="1"/>
          </p:cNvSpPr>
          <p:nvPr/>
        </p:nvSpPr>
        <p:spPr>
          <a:xfrm>
            <a:off x="8210550" y="3048000"/>
            <a:ext cx="3238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1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Designer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12E8EB-9A33-426F-B664-C72A6880FCF3}"/>
              </a:ext>
            </a:extLst>
          </p:cNvPr>
          <p:cNvSpPr>
            <a:spLocks noGrp="1"/>
          </p:cNvSpPr>
          <p:nvPr/>
        </p:nvSpPr>
        <p:spPr>
          <a:xfrm>
            <a:off x="8210550" y="3524250"/>
            <a:ext cx="3238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운영 화면을 구성하고</a:t>
            </a:r>
          </a:p>
          <a:p>
            <a:pPr algn="l">
              <a:lnSpc>
                <a:spcPct val="115000"/>
              </a:lnSpc>
              <a:buNone/>
              <a:def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태그를 연결합니다.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B132FB1-A6E0-466D-805B-60A3B987465C}"/>
              </a:ext>
            </a:extLst>
          </p:cNvPr>
          <p:cNvSpPr>
            <a:spLocks noGrp="1"/>
          </p:cNvSpPr>
          <p:nvPr/>
        </p:nvSpPr>
        <p:spPr>
          <a:xfrm>
            <a:off x="8210550" y="4591050"/>
            <a:ext cx="3238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1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Runtime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3035BE7-0BBD-47D6-9D27-4B5A7017A838}"/>
              </a:ext>
            </a:extLst>
          </p:cNvPr>
          <p:cNvSpPr>
            <a:spLocks noGrp="1"/>
          </p:cNvSpPr>
          <p:nvPr/>
        </p:nvSpPr>
        <p:spPr>
          <a:xfrm>
            <a:off x="8210550" y="5067300"/>
            <a:ext cx="33337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게시한 화면에서 상태를</a:t>
            </a:r>
          </a:p>
          <a:p>
            <a:pPr algn="l">
              <a:lnSpc>
                <a:spcPct val="115000"/>
              </a:lnSpc>
              <a:buNone/>
              <a:def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확인하고 알람·트렌드를 조회합니다.</a:t>
            </a:r>
          </a:p>
        </p:txBody>
      </p:sp>
    </p:spTree>
    <p:extLst>
      <p:ext uri="{BB962C8B-B14F-4D97-AF65-F5344CB8AC3E}">
        <p14:creationId xmlns:p14="http://schemas.microsoft.com/office/powerpoint/2010/main" val="52130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7D0AACE2-2967-44E2-90DF-59A4CB5FF581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PLC Simulator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4AC594-8CF5-4926-BB3E-A72D0DFA0E7B}"/>
              </a:ext>
            </a:extLst>
          </p:cNvPr>
          <p:cNvSpPr>
            <a:spLocks noGrp="1"/>
          </p:cNvSpPr>
          <p:nvPr/>
        </p:nvSpPr>
        <p:spPr>
          <a:xfrm>
            <a:off x="628650" y="1362075"/>
            <a:ext cx="108394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실제 PLC 연결 전 통신과 데이터 흐름을 시험합니다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67A4903-0EE5-4390-8136-DBA9D980674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33337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JAYONSTUDIO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3846B4B-7CA2-41EE-9F52-365628CE99B9}"/>
              </a:ext>
            </a:extLst>
          </p:cNvPr>
          <p:cNvSpPr>
            <a:spLocks noGrp="1"/>
          </p:cNvSpPr>
          <p:nvPr/>
        </p:nvSpPr>
        <p:spPr>
          <a:xfrm>
            <a:off x="11029950" y="64008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B2577E-3BA0-4000-8469-AF57CA6B0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73162" y="2343150"/>
            <a:ext cx="5826125" cy="34956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552BF72-485D-474A-B1EC-4523C0B04B7C}"/>
              </a:ext>
            </a:extLst>
          </p:cNvPr>
          <p:cNvSpPr>
            <a:spLocks noGrp="1"/>
          </p:cNvSpPr>
          <p:nvPr/>
        </p:nvSpPr>
        <p:spPr>
          <a:xfrm>
            <a:off x="8058150" y="2333625"/>
            <a:ext cx="342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1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지원 통신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53E47D-BE6D-4230-BC75-57A6ED7A12E5}"/>
              </a:ext>
            </a:extLst>
          </p:cNvPr>
          <p:cNvSpPr>
            <a:spLocks noGrp="1"/>
          </p:cNvSpPr>
          <p:nvPr/>
        </p:nvSpPr>
        <p:spPr>
          <a:xfrm>
            <a:off x="8058150" y="2857500"/>
            <a:ext cx="3429000" cy="1838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MELSEC</a:t>
            </a:r>
          </a:p>
          <a:p>
            <a:pPr algn="l">
              <a:lnSpc>
                <a:spcPct val="115000"/>
              </a:lnSpc>
              <a:buNone/>
              <a:def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LS XGT</a:t>
            </a:r>
          </a:p>
          <a:p>
            <a:pPr algn="l">
              <a:lnSpc>
                <a:spcPct val="115000"/>
              </a:lnSpc>
              <a:buNone/>
              <a:def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Modbus TCP</a:t>
            </a:r>
          </a:p>
          <a:p>
            <a:pPr algn="l">
              <a:lnSpc>
                <a:spcPct val="115000"/>
              </a:lnSpc>
              <a:buNone/>
              <a:def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ControlLogix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640E64-B20D-49ED-830D-C8FE548CD505}"/>
              </a:ext>
            </a:extLst>
          </p:cNvPr>
          <p:cNvSpPr>
            <a:spLocks noGrp="1"/>
          </p:cNvSpPr>
          <p:nvPr/>
        </p:nvSpPr>
        <p:spPr>
          <a:xfrm>
            <a:off x="8058150" y="4876800"/>
            <a:ext cx="34766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메모리·태그 값을 준비하고</a:t>
            </a:r>
          </a:p>
          <a:p>
            <a:pPr algn="l">
              <a:lnSpc>
                <a:spcPct val="115000"/>
              </a:lnSpc>
              <a:buNone/>
              <a:def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클라이언트의 읽기·쓰기를 시험합니다.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8397189-DD9D-4DF6-88F0-CB24E9E73FA7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6953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72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EXE 단독 설치 제공</a:t>
            </a:r>
          </a:p>
        </p:txBody>
      </p:sp>
    </p:spTree>
    <p:extLst>
      <p:ext uri="{BB962C8B-B14F-4D97-AF65-F5344CB8AC3E}">
        <p14:creationId xmlns:p14="http://schemas.microsoft.com/office/powerpoint/2010/main" val="528107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01AB0A99-3113-4351-8B8B-819587C448E5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JSolution 진단 대시보드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D64D176-DFA7-4313-9C92-263B2EC9E2D3}"/>
              </a:ext>
            </a:extLst>
          </p:cNvPr>
          <p:cNvSpPr>
            <a:spLocks noGrp="1"/>
          </p:cNvSpPr>
          <p:nvPr/>
        </p:nvSpPr>
        <p:spPr>
          <a:xfrm>
            <a:off x="628650" y="1362075"/>
            <a:ext cx="108394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현재 문제의 원인과 필요한 조치를 먼저 확인합니다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2497EFB-1346-412E-B6D2-2A0572BA435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33337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JAYONSTUDIO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D6D74A2-4759-4E86-BAB2-2F4ED3CED3D7}"/>
              </a:ext>
            </a:extLst>
          </p:cNvPr>
          <p:cNvSpPr>
            <a:spLocks noGrp="1"/>
          </p:cNvSpPr>
          <p:nvPr/>
        </p:nvSpPr>
        <p:spPr>
          <a:xfrm>
            <a:off x="11029950" y="64008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EE6A493-A594-48A4-A746-62E5309D71A1}"/>
              </a:ext>
            </a:extLst>
          </p:cNvPr>
          <p:cNvSpPr>
            <a:spLocks noGrp="1"/>
          </p:cNvSpPr>
          <p:nvPr/>
        </p:nvSpPr>
        <p:spPr>
          <a:xfrm>
            <a:off x="609600" y="2324100"/>
            <a:ext cx="4381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현재 문제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24460C8-BCE1-4CE6-B44C-A795CFAE0F03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44196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제품이 제공한 오류·경고를 구분하고</a:t>
            </a:r>
          </a:p>
          <a:p>
            <a:pPr algn="l">
              <a:lnSpc>
                <a:spcPct val="115000"/>
              </a:lnSpc>
              <a:buNone/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원인 설명과 조치 안내를 표시합니다.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8703B47-AB0B-4F48-B528-A0D29E45A8B0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4381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상세와 이력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673B099-423F-4508-A8F0-E61F82597F9A}"/>
              </a:ext>
            </a:extLst>
          </p:cNvPr>
          <p:cNvSpPr>
            <a:spLocks noGrp="1"/>
          </p:cNvSpPr>
          <p:nvPr/>
        </p:nvSpPr>
        <p:spPr>
          <a:xfrm>
            <a:off x="609600" y="4514850"/>
            <a:ext cx="44196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컴포넌트와 지표, 상태 발생·복구 기록,</a:t>
            </a:r>
          </a:p>
          <a:p>
            <a:pPr algn="l">
              <a:lnSpc>
                <a:spcPct val="115000"/>
              </a:lnSpc>
              <a:buNone/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접속·인증 이력을 별도로 조회합니다.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C4A8E1-C445-4B75-A86A-E59176DDECDD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44196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72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같은 망의 다른 PC에서도</a:t>
            </a:r>
          </a:p>
          <a:p>
            <a:pPr algn="l">
              <a:lnSpc>
                <a:spcPct val="115000"/>
              </a:lnSpc>
              <a:buNone/>
              <a:defRPr sz="172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브라우저로 조회할 수 있습니다.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06B7CB2-0750-48D0-8EA5-A7DE52FAF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553663" y="2219325"/>
            <a:ext cx="3837648" cy="402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661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A7E7678-696B-4DEF-9B2F-3C01969BD49D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설치와 운영 구성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AD6A6C-A864-4CA9-A959-D036EB1A1E64}"/>
              </a:ext>
            </a:extLst>
          </p:cNvPr>
          <p:cNvSpPr>
            <a:spLocks noGrp="1"/>
          </p:cNvSpPr>
          <p:nvPr/>
        </p:nvSpPr>
        <p:spPr>
          <a:xfrm>
            <a:off x="628650" y="1362075"/>
            <a:ext cx="108394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JSolution 통합 EXE에서 필요한 제품을 선택합니다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3FEA3E1-C0B6-4958-86A0-0D25D41DA6E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33337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JAYONSTUDIO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7B55A53-5FFC-4D92-B55A-1005EE9987A2}"/>
              </a:ext>
            </a:extLst>
          </p:cNvPr>
          <p:cNvSpPr>
            <a:spLocks noGrp="1"/>
          </p:cNvSpPr>
          <p:nvPr/>
        </p:nvSpPr>
        <p:spPr>
          <a:xfrm>
            <a:off x="11029950" y="64008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9D128DE-BE97-4F37-9EE8-15DBA914CEB6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238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55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진단기만 설치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E058BC9-CC9A-4E47-8CA9-AE2D5EFF8EF0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52387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기존 제품을 유지하면서</a:t>
            </a:r>
          </a:p>
          <a:p>
            <a:pPr algn="l">
              <a:lnSpc>
                <a:spcPct val="115000"/>
              </a:lnSpc>
              <a:buNone/>
              <a:def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진단 대시보드부터 도입합니다.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3D161-A516-48D4-A05C-76BBDCCB0B00}"/>
              </a:ext>
            </a:extLst>
          </p:cNvPr>
          <p:cNvSpPr>
            <a:spLocks noGrp="1"/>
          </p:cNvSpPr>
          <p:nvPr/>
        </p:nvSpPr>
        <p:spPr>
          <a:xfrm>
            <a:off x="6324600" y="2362200"/>
            <a:ext cx="52578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55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제품을 함께 설치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95016D0-B66C-493D-855C-A4DDCBE8FF8E}"/>
              </a:ext>
            </a:extLst>
          </p:cNvPr>
          <p:cNvSpPr>
            <a:spLocks noGrp="1"/>
          </p:cNvSpPr>
          <p:nvPr/>
        </p:nvSpPr>
        <p:spPr>
          <a:xfrm>
            <a:off x="6324600" y="3028950"/>
            <a:ext cx="52578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JCore·JView·PLC Simulator 중</a:t>
            </a:r>
          </a:p>
          <a:p>
            <a:pPr algn="l">
              <a:lnSpc>
                <a:spcPct val="115000"/>
              </a:lnSpc>
              <a:buNone/>
              <a:def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현장에 필요한 제품을 선택합니다.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278E63-FC92-444F-A03B-2A2F5C17173E}"/>
              </a:ext>
            </a:extLst>
          </p:cNvPr>
          <p:cNvSpPr>
            <a:spLocks noGrp="1"/>
          </p:cNvSpPr>
          <p:nvPr/>
        </p:nvSpPr>
        <p:spPr>
          <a:xfrm>
            <a:off x="609600" y="45910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32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서버 설치 후 브라우저 접속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900B906-2064-42A6-99EB-80F74AD58C67}"/>
              </a:ext>
            </a:extLst>
          </p:cNvPr>
          <p:cNvSpPr>
            <a:spLocks noGrp="1"/>
          </p:cNvSpPr>
          <p:nvPr/>
        </p:nvSpPr>
        <p:spPr>
          <a:xfrm>
            <a:off x="609600" y="5200650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설치는 관리자 권한으로 진행하며, 진단기는 Windows 서비스로 실행합니다.</a:t>
            </a:r>
          </a:p>
          <a:p>
            <a:pPr algn="l">
              <a:lnSpc>
                <a:spcPct val="115000"/>
              </a:lnSpc>
              <a:buNone/>
              <a:def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대시보드는 기본 5088 포트로 로컬 PC와 같은 망에서 조회합니다.</a:t>
            </a:r>
          </a:p>
        </p:txBody>
      </p:sp>
    </p:spTree>
    <p:extLst>
      <p:ext uri="{BB962C8B-B14F-4D97-AF65-F5344CB8AC3E}">
        <p14:creationId xmlns:p14="http://schemas.microsoft.com/office/powerpoint/2010/main" val="2018930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B9BE8DC-9E18-4E3B-912D-A489230CB964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109728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적용 시나리오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1996BB-1B6B-41AA-8AFA-447DAFC904F2}"/>
              </a:ext>
            </a:extLst>
          </p:cNvPr>
          <p:cNvSpPr>
            <a:spLocks noGrp="1"/>
          </p:cNvSpPr>
          <p:nvPr/>
        </p:nvSpPr>
        <p:spPr>
          <a:xfrm>
            <a:off x="628650" y="1362075"/>
            <a:ext cx="108394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현장의 목적에 맞춰 제품을 조합합니다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F1A8C9E-C9FD-4E85-B2E6-A7CE76E18D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33337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JAYONSTUDIO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0AAD8B3-C821-4CDB-93E1-B3ED835B0F0F}"/>
              </a:ext>
            </a:extLst>
          </p:cNvPr>
          <p:cNvSpPr>
            <a:spLocks noGrp="1"/>
          </p:cNvSpPr>
          <p:nvPr/>
        </p:nvSpPr>
        <p:spPr>
          <a:xfrm>
            <a:off x="11029950" y="64008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B435ADD-9024-464B-9A44-2676A73A9590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357187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설비 데이터 수집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B0FE3B5-B763-4F17-8C19-F4CF5011CA36}"/>
              </a:ext>
            </a:extLst>
          </p:cNvPr>
          <p:cNvSpPr>
            <a:spLocks noGrp="1"/>
          </p:cNvSpPr>
          <p:nvPr/>
        </p:nvSpPr>
        <p:spPr>
          <a:xfrm>
            <a:off x="4324350" y="2286000"/>
            <a:ext cx="7143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JCore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5D77968-8A03-44E2-BB5C-C42B490F5DDB}"/>
              </a:ext>
            </a:extLst>
          </p:cNvPr>
          <p:cNvSpPr>
            <a:spLocks noGrp="1"/>
          </p:cNvSpPr>
          <p:nvPr/>
        </p:nvSpPr>
        <p:spPr>
          <a:xfrm>
            <a:off x="4324350" y="2705100"/>
            <a:ext cx="71628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PLC 데이터를 공통 태그로 구성하고 응용 시스템에 연결합니다.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3185639-522B-4DF7-8CC6-D098214B0E24}"/>
              </a:ext>
            </a:extLst>
          </p:cNvPr>
          <p:cNvSpPr>
            <a:spLocks noGrp="1"/>
          </p:cNvSpPr>
          <p:nvPr/>
        </p:nvSpPr>
        <p:spPr>
          <a:xfrm>
            <a:off x="609600" y="3228975"/>
            <a:ext cx="357187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운영 화면 구축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61802B-E1E3-4742-BFAF-37F42EF41B84}"/>
              </a:ext>
            </a:extLst>
          </p:cNvPr>
          <p:cNvSpPr>
            <a:spLocks noGrp="1"/>
          </p:cNvSpPr>
          <p:nvPr/>
        </p:nvSpPr>
        <p:spPr>
          <a:xfrm>
            <a:off x="4324350" y="3228975"/>
            <a:ext cx="7143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JCore + JView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A432EA9-4F48-4004-B855-89588AB03E57}"/>
              </a:ext>
            </a:extLst>
          </p:cNvPr>
          <p:cNvSpPr>
            <a:spLocks noGrp="1"/>
          </p:cNvSpPr>
          <p:nvPr/>
        </p:nvSpPr>
        <p:spPr>
          <a:xfrm>
            <a:off x="4324350" y="3648075"/>
            <a:ext cx="71628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웹에서 설비 상태를 확인하고 알람·트렌드를 조회합니다.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93F1F12-7235-4451-BF82-40EE217E5A5B}"/>
              </a:ext>
            </a:extLst>
          </p:cNvPr>
          <p:cNvSpPr>
            <a:spLocks noGrp="1"/>
          </p:cNvSpPr>
          <p:nvPr/>
        </p:nvSpPr>
        <p:spPr>
          <a:xfrm>
            <a:off x="609600" y="4171950"/>
            <a:ext cx="357187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개발과 사전 테스트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0A9FEE6-A628-4E0C-94E3-93686DCA8786}"/>
              </a:ext>
            </a:extLst>
          </p:cNvPr>
          <p:cNvSpPr>
            <a:spLocks noGrp="1"/>
          </p:cNvSpPr>
          <p:nvPr/>
        </p:nvSpPr>
        <p:spPr>
          <a:xfrm>
            <a:off x="4324350" y="4171950"/>
            <a:ext cx="7143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PLC Simulator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605C29B-2578-4A17-BE3B-4EBA2458DE94}"/>
              </a:ext>
            </a:extLst>
          </p:cNvPr>
          <p:cNvSpPr>
            <a:spLocks noGrp="1"/>
          </p:cNvSpPr>
          <p:nvPr/>
        </p:nvSpPr>
        <p:spPr>
          <a:xfrm>
            <a:off x="4324350" y="4591050"/>
            <a:ext cx="71628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장비 연결 전 통신·태그·화면 동작을 시험합니다.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010ABA8-1AA7-45F6-ACC0-F769A32CEC5E}"/>
              </a:ext>
            </a:extLst>
          </p:cNvPr>
          <p:cNvSpPr>
            <a:spLocks noGrp="1"/>
          </p:cNvSpPr>
          <p:nvPr/>
        </p:nvSpPr>
        <p:spPr>
          <a:xfrm>
            <a:off x="609600" y="5114925"/>
            <a:ext cx="357187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운영 상태 점검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D5B2BBD-A38F-40E0-875B-9A7C07AC610D}"/>
              </a:ext>
            </a:extLst>
          </p:cNvPr>
          <p:cNvSpPr>
            <a:spLocks noGrp="1"/>
          </p:cNvSpPr>
          <p:nvPr/>
        </p:nvSpPr>
        <p:spPr>
          <a:xfrm>
            <a:off x="4324350" y="5114925"/>
            <a:ext cx="7143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JSolution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2690DAD-BED4-4CD2-988F-585E25024DE6}"/>
              </a:ext>
            </a:extLst>
          </p:cNvPr>
          <p:cNvSpPr>
            <a:spLocks noGrp="1"/>
          </p:cNvSpPr>
          <p:nvPr/>
        </p:nvSpPr>
        <p:spPr>
          <a:xfrm>
            <a:off x="4324350" y="5534025"/>
            <a:ext cx="71628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제품 상태와 문제 원인을 확인하고 이력으로 경과를 검토합니다.</a:t>
            </a:r>
          </a:p>
        </p:txBody>
      </p:sp>
    </p:spTree>
    <p:extLst>
      <p:ext uri="{BB962C8B-B14F-4D97-AF65-F5344CB8AC3E}">
        <p14:creationId xmlns:p14="http://schemas.microsoft.com/office/powerpoint/2010/main" val="2024532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BB9DBED-DFBD-49D5-93AE-196F69174B66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85725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5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45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JAYONSTUDIO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38FDDEF-04CC-462F-913E-A2E22CA6E562}"/>
              </a:ext>
            </a:extLst>
          </p:cNvPr>
          <p:cNvSpPr>
            <a:spLocks noGrp="1"/>
          </p:cNvSpPr>
          <p:nvPr/>
        </p:nvSpPr>
        <p:spPr>
          <a:xfrm>
            <a:off x="647700" y="1647825"/>
            <a:ext cx="9525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47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산업용 소프트웨어 &amp; 솔루션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214B06-57D6-4CC7-8A6E-2EB9FBEC06B3}"/>
              </a:ext>
            </a:extLst>
          </p:cNvPr>
          <p:cNvSpPr>
            <a:spLocks noGrp="1"/>
          </p:cNvSpPr>
          <p:nvPr/>
        </p:nvSpPr>
        <p:spPr>
          <a:xfrm>
            <a:off x="647700" y="3067050"/>
            <a:ext cx="99060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300" b="1">
                <a:solidFill>
                  <a:srgbClr val="0D223F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 dirty="0" err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제품</a:t>
            </a:r>
            <a:r>
              <a:rPr sz="3300" b="1" dirty="0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300" b="1" dirty="0" err="1">
                <a:solidFill>
                  <a:srgbClr val="0D223F"/>
                </a:solidFill>
                <a:latin typeface="Malgun Gothic"/>
                <a:ea typeface="Malgun Gothic"/>
                <a:cs typeface="Malgun Gothic"/>
              </a:rPr>
              <a:t>문의</a:t>
            </a:r>
            <a:endParaRPr sz="3300" b="1" dirty="0">
              <a:solidFill>
                <a:srgbClr val="0D22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6D9F150-F9D3-4ED2-A0C8-48800B6432FD}"/>
              </a:ext>
            </a:extLst>
          </p:cNvPr>
          <p:cNvSpPr>
            <a:spLocks noGrp="1"/>
          </p:cNvSpPr>
          <p:nvPr/>
        </p:nvSpPr>
        <p:spPr>
          <a:xfrm>
            <a:off x="647700" y="3634624"/>
            <a:ext cx="10668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3225" b="1">
                <a:solidFill>
                  <a:srgbClr val="185AC0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 dirty="0">
                <a:solidFill>
                  <a:srgbClr val="185AC0"/>
                </a:solidFill>
                <a:latin typeface="Malgun Gothic"/>
                <a:ea typeface="Malgun Gothic"/>
                <a:cs typeface="Malgun Gothic"/>
              </a:rPr>
              <a:t>rlawngur4776@naver.com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03C12DB-03AA-4457-8DDB-C4045773F7C6}"/>
              </a:ext>
            </a:extLst>
          </p:cNvPr>
          <p:cNvSpPr>
            <a:spLocks noGrp="1"/>
          </p:cNvSpPr>
          <p:nvPr/>
        </p:nvSpPr>
        <p:spPr>
          <a:xfrm>
            <a:off x="647700" y="5219700"/>
            <a:ext cx="9525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87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제품 소개와 다운로드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95129A2-2C53-4BE4-B84E-F329EA9BB46D}"/>
              </a:ext>
            </a:extLst>
          </p:cNvPr>
          <p:cNvSpPr>
            <a:spLocks noGrp="1"/>
          </p:cNvSpPr>
          <p:nvPr/>
        </p:nvSpPr>
        <p:spPr>
          <a:xfrm>
            <a:off x="647700" y="5715000"/>
            <a:ext cx="10572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F3248"/>
                </a:solidFill>
                <a:latin typeface="Malgun Gothic"/>
                <a:ea typeface="Malgun Gothic"/>
                <a:cs typeface="Malgun Gothic"/>
              </a:rPr>
              <a:t>jay-kim4776.github.io/JAYON-STUDIO/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B8463FF-8601-49B4-90AD-8B35C58254E5}"/>
              </a:ext>
            </a:extLst>
          </p:cNvPr>
          <p:cNvSpPr>
            <a:spLocks noGrp="1"/>
          </p:cNvSpPr>
          <p:nvPr/>
        </p:nvSpPr>
        <p:spPr>
          <a:xfrm>
            <a:off x="647700" y="641985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5000"/>
              </a:lnSpc>
              <a:buNone/>
              <a:defRPr sz="12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1748A"/>
                </a:solidFill>
                <a:latin typeface="Malgun Gothic"/>
                <a:ea typeface="Malgun Gothic"/>
                <a:cs typeface="Malgun Gothic"/>
              </a:rPr>
              <a:t>2026.10</a:t>
            </a:r>
          </a:p>
        </p:txBody>
      </p:sp>
    </p:spTree>
    <p:extLst>
      <p:ext uri="{BB962C8B-B14F-4D97-AF65-F5344CB8AC3E}">
        <p14:creationId xmlns:p14="http://schemas.microsoft.com/office/powerpoint/2010/main" val="13129081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949</Words>
  <Application>Microsoft Office PowerPoint</Application>
  <DocSecurity>0</DocSecurity>
  <PresentationFormat>와이드스크린</PresentationFormat>
  <Paragraphs>125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Malgun Gothic</vt:lpstr>
      <vt:lpstr>Aptos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BEAN</cp:lastModifiedBy>
  <cp:revision>2</cp:revision>
  <dcterms:created xsi:type="dcterms:W3CDTF">2026-10-14T17:01:59Z</dcterms:created>
  <dcterms:modified xsi:type="dcterms:W3CDTF">2026-10-14T17:05:41Z</dcterms:modified>
</cp:coreProperties>
</file>