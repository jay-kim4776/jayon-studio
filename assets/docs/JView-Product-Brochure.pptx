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JView 제품소개서. 제품 버전 1.0.2 기준. 로고는 사용자 제공 소개서의 원본 이미지를 사용.</a:t>
            </a:r>
          </a:p>
          <a:p>
            <a:r>
              <a:t>기능 기준: JView 1.0.2 작업 소스, 2026-10-14. 참조: D:/05 JayOn/05 JView/01 Source/JView/docs/runtime-scripting.md, docs/published-tags.md, docs/WINDOWS_INSTALLER.md 및 구현 소스. 디자인 참조: 사용자 제공 JCore 제품소개서.pptx.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외부 사진은 JView 구축 사례가 아닌 적용 환경 참고 사진. 출처: https://revolutionpi.com/en/success-stories/detail/digitalizing-in-water-treatment 이미지: https://revolutionpi.com/fileadmin/success_story_images/success_story_digitalizing-in-water-treatment_implementation_command_center.jpg</a:t>
            </a:r>
          </a:p>
          <a:p>
            <a:r>
              <a:t>기능 기준: JView 1.0.2 작업 소스, 2026-10-14. 참조: D:/05 JayOn/05 JView/01 Source/JView/docs/runtime-scripting.md, docs/published-tags.md, docs/WINDOWS_INSTALLER.md 및 구현 소스. 디자인 참조: 사용자 제공 JCore 제품소개서.pptx.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JView 자체 PLC 드라이버 또는 OPC UA 직접 접속 지원을 의미하지 않는다. 현장 통신은 JCore가 담당한다.</a:t>
            </a:r>
          </a:p>
          <a:p>
            <a:r>
              <a:t>기능 기준: JView 1.0.2 작업 소스, 2026-10-14. 참조: D:/05 JayOn/05 JView/01 Source/JView/docs/runtime-scripting.md, docs/published-tags.md, docs/WINDOWS_INSTALLER.md 및 구현 소스. 디자인 참조: 사용자 제공 JCore 제품소개서.pptx.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출처: JView/docs/designer-compact.png. 기존 개발 예시 캡처로 최신 UI와 일부 차이가 있다. 기능은 현재 소스로 확인.</a:t>
            </a:r>
          </a:p>
          <a:p>
            <a:r>
              <a:t>기능 기준: JView 1.0.2 작업 소스, 2026-10-14. 참조: D:/05 JayOn/05 JView/01 Source/JView/docs/runtime-scripting.md, docs/published-tags.md, docs/WINDOWS_INSTALLER.md 및 구현 소스. 디자인 참조: 사용자 제공 JCore 제품소개서.pptx.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기능 근거: services/symbols.ts, symbolSamples.ts, arrowSymbols.ts, renderer/ValueDisplay.tsx, designer/ObjectInspector.tsx.</a:t>
            </a:r>
          </a:p>
          <a:p>
            <a:r>
              <a:t>기능 기준: JView 1.0.2 작업 소스, 2026-10-14. 참조: D:/05 JayOn/05 JView/01 Source/JView/docs/runtime-scripting.md, docs/published-tags.md, docs/WINDOWS_INSTALLER.md 및 구현 소스. 디자인 참조: 사용자 제공 JCore 제품소개서.pptx.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태그 목록 읽기와 JCore 게시 등록은 별개 절차. 라이선스와 권한 범위 안에서 사용. 현재 구현은 자동 동기화가 아닌 수동 다시 읽기.</a:t>
            </a:r>
          </a:p>
          <a:p>
            <a:r>
              <a:t>기능 기준: JView 1.0.2 작업 소스, 2026-10-14. 참조: D:/05 JayOn/05 JView/01 Source/JView/docs/runtime-scripting.md, docs/published-tags.md, docs/WINDOWS_INSTALLER.md 및 구현 소스. 디자인 참조: 사용자 제공 JCore 제품소개서.pptx.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출처: JView/docs/scada-runtime.png. 이전 개발 예시 화면으로 현재 알람 바 및 시작/정지 트렌드 UI와 차이가 있음. 이력은 JCore 저장 데이터와 권한·라이선스에 의존.</a:t>
            </a:r>
          </a:p>
          <a:p>
            <a:r>
              <a:t>기능 기준: JView 1.0.2 작업 소스, 2026-10-14. 참조: D:/05 JayOn/05 JView/01 Source/JView/docs/runtime-scripting.md, docs/published-tags.md, docs/WINDOWS_INSTALLER.md 및 구현 소스. 디자인 참조: 사용자 제공 JCore 제품소개서.pptx.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기능 근거: renderer/TrendView.tsx. 현재 UI 시작/정지. 점 표시는 제거되었고 이력 샘플 연결선은 점선으로 표시. 이력 사이의 실제 값과 통신 상태는 확인되지 않음. 로깅 설정은 JCore에서 필요.</a:t>
            </a:r>
          </a:p>
          <a:p>
            <a:r>
              <a:t>기능 기준: JView 1.0.2 작업 소스, 2026-10-14. 참조: D:/05 JayOn/05 JView/01 Source/JView/docs/runtime-scripting.md, docs/published-tags.md, docs/WINDOWS_INSTALLER.md 및 구현 소스. 디자인 참조: 사용자 제공 JCore 제품소개서.pptx.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출처: JView/docs/popup-position.png. 위치 옵션은 실제 구현. 필수 인자가 없는 팝업도 허용.</a:t>
            </a:r>
          </a:p>
          <a:p>
            <a:r>
              <a:t>기능 기준: JView 1.0.2 작업 소스, 2026-10-14. 참조: D:/05 JayOn/05 JView/01 Source/JView/docs/runtime-scripting.md, docs/published-tags.md, docs/WINDOWS_INSTALLER.md 및 구현 소스. 디자인 참조: 사용자 제공 JCore 제품소개서.pptx.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출처: JView/docs/script-editor.jpg. 전체 .NET 또는 임의 외부 라이브러리 실행 환경이 아님. C# 문법의 제한된 런타임이며 지원 구문 범위가 있음. 태그 쓰기는 조작 로그인과 서버 권한 검증 필요.</a:t>
            </a:r>
          </a:p>
          <a:p>
            <a:r>
              <a:t>기능 기준: JView 1.0.2 작업 소스, 2026-10-14. 참조: D:/05 JayOn/05 JView/01 Source/JView/docs/runtime-scripting.md, docs/published-tags.md, docs/WINDOWS_INSTALLER.md 및 구현 소스. 디자인 참조: 사용자 제공 JCore 제품소개서.pptx.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설치 근거 installer/Product.wxs 및 docs/WINDOWS_INSTALLER.md. HTML은 독립 실행 프로젝트가 아닌 실행 중 JView 서버의 runtime 바로가기. 자동 전체화면은 브라우저 정책에 따라 클릭 필요. 버전 업그레이드는 서비스 중지/재시작으로 일시 통신 중단.</a:t>
            </a:r>
          </a:p>
          <a:p>
            <a:r>
              <a:t>기능 기준: JView 1.0.2 작업 소스, 2026-10-14. 참조: D:/05 JayOn/05 JView/01 Source/JView/docs/runtime-scripting.md, docs/published-tags.md, docs/WINDOWS_INSTALLER.md 및 구현 소스. 디자인 참조: 사용자 제공 JCore 제품소개서.pptx.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사진: 사용자 제공 JCore 제품소개서.pptx 내 공장 이미지. 적용 분야는 활용 시나리오이며 납품 실적을 의미하지 않는다.</a:t>
            </a:r>
          </a:p>
          <a:p>
            <a:r>
              <a:t>기능 기준: JView 1.0.2 작업 소스, 2026-10-14. 참조: D:/05 JayOn/05 JView/01 Source/JView/docs/runtime-scripting.md, docs/published-tags.md, docs/WINDOWS_INSTALLER.md 및 구현 소스. 디자인 참조: 사용자 제공 JCore 제품소개서.pptx.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문의처는 제공 자료에서 확인되지 않아 임의 연락처를 넣지 않음.</a:t>
            </a:r>
          </a:p>
          <a:p>
            <a:r>
              <a:t>기능 기준: JView 1.0.2 작업 소스, 2026-10-14. 참조: D:/05 JayOn/05 JView/01 Source/JView/docs/runtime-scripting.md, docs/published-tags.md, docs/WINDOWS_INSTALLER.md 및 구현 소스. 디자인 참조: 사용자 제공 JCore 제품소개서.pptx.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B5D5E9A2-7343-4113-AB12-DAF8FE758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98536568-27F0-4EA3-B778-1C440B1971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A46D49C4-D3ED-4FBA-B005-E004022EC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4694545-C9FD-4208-8B66-D2BE28B39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3237CDCC-8776-49E7-AA33-AE0C23B3FD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9DFB14E2-148C-42C0-9776-84FD47F2A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B82E6D5B-4F8E-4DFA-9897-1CC5F68517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272CDC98-D160-476F-B1D0-16D297E205D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292F4E80-3C8B-4C31-BC93-0312A0FC4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C86D508B-A37F-4653-ADB5-75DDF2B447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1B65C226-32AA-4C9E-B23C-FF2AFED759D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21C1E8A4-ECC8-4181-8B25-9836D59E6BE4}"/>
              </a:ext>
            </a:extLst>
          </p:cNvPr>
          <p:cNvSpPr>
            <a:spLocks noGrp="1"/>
          </p:cNvSpPr>
          <p:nvPr/>
        </p:nvSpPr>
        <p:spPr>
          <a:xfrm>
            <a:off x="11334750" y="6448425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050" b="0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050" b="0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D241729-4B55-472C-B9AB-E1CC7C9C74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95313" y="619125"/>
            <a:ext cx="1800225" cy="120015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05E7DB4B-7146-43FF-AE6F-E9B35DEC71AA}"/>
              </a:ext>
            </a:extLst>
          </p:cNvPr>
          <p:cNvSpPr>
            <a:spLocks noGrp="1"/>
          </p:cNvSpPr>
          <p:nvPr/>
        </p:nvSpPr>
        <p:spPr>
          <a:xfrm>
            <a:off x="590550" y="2238375"/>
            <a:ext cx="5905500" cy="1095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6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6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6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JView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493106D-BAF8-4F3F-BBF1-D4EE1C76C931}"/>
              </a:ext>
            </a:extLst>
          </p:cNvPr>
          <p:cNvSpPr>
            <a:spLocks noGrp="1"/>
          </p:cNvSpPr>
          <p:nvPr/>
        </p:nvSpPr>
        <p:spPr>
          <a:xfrm>
            <a:off x="628650" y="3476625"/>
            <a:ext cx="6191250" cy="619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850" b="1">
                <a:solidFill>
                  <a:srgbClr val="38BDF8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2850" b="1">
                <a:solidFill>
                  <a:srgbClr val="38BDF8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38BDF8"/>
                </a:solidFill>
                <a:latin typeface="Malgun Gothic"/>
                <a:ea typeface="Malgun Gothic"/>
                <a:cs typeface="Malgun Gothic"/>
              </a:rPr>
              <a:t>산업용 SCADA / HMI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277D0E0-95C5-4C6C-B9F9-A4DBFBA8DF61}"/>
              </a:ext>
            </a:extLst>
          </p:cNvPr>
          <p:cNvSpPr>
            <a:spLocks noGrp="1"/>
          </p:cNvSpPr>
          <p:nvPr/>
        </p:nvSpPr>
        <p:spPr>
          <a:xfrm>
            <a:off x="628650" y="4343400"/>
            <a:ext cx="10001250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CBD5E1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2100" b="0">
                <a:solidFill>
                  <a:srgbClr val="CBD5E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CBD5E1"/>
                </a:solidFill>
                <a:latin typeface="Malgun Gothic"/>
                <a:ea typeface="Malgun Gothic"/>
                <a:cs typeface="Malgun Gothic"/>
              </a:rPr>
              <a:t>JCore 데이터를 현장 운영 화면으로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D34D678-0094-4EE7-A30A-8671CE872E19}"/>
              </a:ext>
            </a:extLst>
          </p:cNvPr>
          <p:cNvSpPr>
            <a:spLocks noGrp="1"/>
          </p:cNvSpPr>
          <p:nvPr/>
        </p:nvSpPr>
        <p:spPr>
          <a:xfrm>
            <a:off x="628650" y="5819775"/>
            <a:ext cx="5715000" cy="3429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00" b="0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500" b="0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JAYON STUDIO</a:t>
            </a:r>
          </a:p>
        </p:txBody>
      </p:sp>
    </p:spTree>
    <p:extLst>
      <p:ext uri="{BB962C8B-B14F-4D97-AF65-F5344CB8AC3E}">
        <p14:creationId xmlns:p14="http://schemas.microsoft.com/office/powerpoint/2010/main" val="5544568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FF69C328-F8D7-42B6-82B1-8A00DEAD35C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C13F59FC-138D-4DF6-932D-FD477F2CD60C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0858500" cy="5905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700" b="1">
                <a:solidFill>
                  <a:srgbClr val="0B1D3A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2700" b="1">
                <a:solidFill>
                  <a:srgbClr val="0B1D3A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0B1D3A"/>
                </a:solidFill>
                <a:latin typeface="Malgun Gothic"/>
                <a:ea typeface="Malgun Gothic"/>
                <a:cs typeface="Malgun Gothic"/>
              </a:rPr>
              <a:t>JView 제품 개요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B97B3FD-2F67-4356-A6A9-F1CA32A67783}"/>
              </a:ext>
            </a:extLst>
          </p:cNvPr>
          <p:cNvSpPr>
            <a:spLocks noGrp="1"/>
          </p:cNvSpPr>
          <p:nvPr/>
        </p:nvSpPr>
        <p:spPr>
          <a:xfrm>
            <a:off x="590550" y="1066800"/>
            <a:ext cx="10477500" cy="3619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00" b="0">
                <a:solidFill>
                  <a:srgbClr val="1D70B8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500" b="0">
                <a:solidFill>
                  <a:srgbClr val="1D70B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D70B8"/>
                </a:solidFill>
                <a:latin typeface="Malgun Gothic"/>
                <a:ea typeface="Malgun Gothic"/>
                <a:cs typeface="Malgun Gothic"/>
              </a:rPr>
              <a:t>JCore와 연동하는 웹 기반 감시·조작 화면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2BB571B-5E7A-41A5-BDA9-7C5D06AE81F7}"/>
              </a:ext>
            </a:extLst>
          </p:cNvPr>
          <p:cNvSpPr>
            <a:spLocks noGrp="1"/>
          </p:cNvSpPr>
          <p:nvPr/>
        </p:nvSpPr>
        <p:spPr>
          <a:xfrm>
            <a:off x="11334750" y="6448425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0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0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43A1A53-BDF1-42D0-92D2-377F8D82D399}"/>
              </a:ext>
            </a:extLst>
          </p:cNvPr>
          <p:cNvSpPr>
            <a:spLocks noGrp="1"/>
          </p:cNvSpPr>
          <p:nvPr/>
        </p:nvSpPr>
        <p:spPr>
          <a:xfrm>
            <a:off x="619125" y="1885950"/>
            <a:ext cx="466725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1">
                <a:solidFill>
                  <a:srgbClr val="1D70B8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950" b="1">
                <a:solidFill>
                  <a:srgbClr val="1D70B8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D70B8"/>
                </a:solidFill>
                <a:latin typeface="Malgun Gothic"/>
                <a:ea typeface="Malgun Gothic"/>
                <a:cs typeface="Malgun Gothic"/>
              </a:rPr>
              <a:t>화면을 직접 구성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B4EF068-898E-41A5-B257-DA072B1DFC28}"/>
              </a:ext>
            </a:extLst>
          </p:cNvPr>
          <p:cNvSpPr>
            <a:spLocks noGrp="1"/>
          </p:cNvSpPr>
          <p:nvPr/>
        </p:nvSpPr>
        <p:spPr>
          <a:xfrm>
            <a:off x="619125" y="2333625"/>
            <a:ext cx="4667250" cy="857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6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설비 배치에 맞춰 객체와 심볼을 배치하고</a:t>
            </a:r>
          </a:p>
          <a:p>
            <a:pPr>
              <a:defRPr sz="16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태그 값과 상태를 화면에 연결합니다.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D46374B-B0F2-42FD-89AE-B4B7EBD09135}"/>
              </a:ext>
            </a:extLst>
          </p:cNvPr>
          <p:cNvSpPr>
            <a:spLocks noGrp="1"/>
          </p:cNvSpPr>
          <p:nvPr/>
        </p:nvSpPr>
        <p:spPr>
          <a:xfrm>
            <a:off x="619125" y="3448050"/>
            <a:ext cx="466725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1">
                <a:solidFill>
                  <a:srgbClr val="1D70B8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950" b="1">
                <a:solidFill>
                  <a:srgbClr val="1D70B8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D70B8"/>
                </a:solidFill>
                <a:latin typeface="Malgun Gothic"/>
                <a:ea typeface="Malgun Gothic"/>
                <a:cs typeface="Malgun Gothic"/>
              </a:rPr>
              <a:t>상태와 변화를 확인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2C296FB-FB97-4536-9E17-A535BB393E07}"/>
              </a:ext>
            </a:extLst>
          </p:cNvPr>
          <p:cNvSpPr>
            <a:spLocks noGrp="1"/>
          </p:cNvSpPr>
          <p:nvPr/>
        </p:nvSpPr>
        <p:spPr>
          <a:xfrm>
            <a:off x="619125" y="3895725"/>
            <a:ext cx="4667250" cy="857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6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현재 알람과 저장 이력을 조회하고</a:t>
            </a:r>
          </a:p>
          <a:p>
            <a:pPr>
              <a:defRPr sz="16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트렌드로 값의 변화를 살펴봅니다.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C26AE4A-29CE-4D0C-85F3-F66C417A1B94}"/>
              </a:ext>
            </a:extLst>
          </p:cNvPr>
          <p:cNvSpPr>
            <a:spLocks noGrp="1"/>
          </p:cNvSpPr>
          <p:nvPr/>
        </p:nvSpPr>
        <p:spPr>
          <a:xfrm>
            <a:off x="619125" y="5410200"/>
            <a:ext cx="490537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1">
                <a:solidFill>
                  <a:srgbClr val="0B1D3A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725" b="1">
                <a:solidFill>
                  <a:srgbClr val="0B1D3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B1D3A"/>
                </a:solidFill>
                <a:latin typeface="Malgun Gothic"/>
                <a:ea typeface="Malgun Gothic"/>
                <a:cs typeface="Malgun Gothic"/>
              </a:rPr>
              <a:t>운영자는 브라우저에서 게시된 화면에 접속합니다.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E754BC2C-6D17-4A09-87C7-FA9AC56D3E6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099" b="1099"/>
          <a:stretch>
            <a:fillRect/>
          </a:stretch>
        </p:blipFill>
        <p:spPr>
          <a:xfrm>
            <a:off x="5857875" y="1838325"/>
            <a:ext cx="5762625" cy="3733800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5219B7FB-CDFF-43B0-8A79-9BBD9F5CE432}"/>
              </a:ext>
            </a:extLst>
          </p:cNvPr>
          <p:cNvSpPr>
            <a:spLocks noGrp="1"/>
          </p:cNvSpPr>
          <p:nvPr/>
        </p:nvSpPr>
        <p:spPr>
          <a:xfrm>
            <a:off x="5886450" y="5686425"/>
            <a:ext cx="571500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20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산업용 SCADA 제어실 참고 사진</a:t>
            </a:r>
          </a:p>
        </p:txBody>
      </p:sp>
    </p:spTree>
    <p:extLst>
      <p:ext uri="{BB962C8B-B14F-4D97-AF65-F5344CB8AC3E}">
        <p14:creationId xmlns:p14="http://schemas.microsoft.com/office/powerpoint/2010/main" val="8599588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그림 16">
            <a:extLst>
              <a:ext uri="{FF2B5EF4-FFF2-40B4-BE49-F238E27FC236}">
                <a16:creationId xmlns:a16="http://schemas.microsoft.com/office/drawing/2014/main" id="{8AE0FE1C-BE77-4804-8A3C-937C7ECF64F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C6A139DB-BA30-4C66-81D4-D1F95E41EC14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0858500" cy="5905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700" b="1">
                <a:solidFill>
                  <a:srgbClr val="0B1D3A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2700" b="1">
                <a:solidFill>
                  <a:srgbClr val="0B1D3A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0B1D3A"/>
                </a:solidFill>
                <a:latin typeface="Malgun Gothic"/>
                <a:ea typeface="Malgun Gothic"/>
                <a:cs typeface="Malgun Gothic"/>
              </a:rPr>
              <a:t>JCore와 JView의 역할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82C7AD9-7BDE-42EB-93BE-6A06507543DA}"/>
              </a:ext>
            </a:extLst>
          </p:cNvPr>
          <p:cNvSpPr>
            <a:spLocks noGrp="1"/>
          </p:cNvSpPr>
          <p:nvPr/>
        </p:nvSpPr>
        <p:spPr>
          <a:xfrm>
            <a:off x="590550" y="1066800"/>
            <a:ext cx="10477500" cy="3619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00" b="0">
                <a:solidFill>
                  <a:srgbClr val="1D70B8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500" b="0">
                <a:solidFill>
                  <a:srgbClr val="1D70B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D70B8"/>
                </a:solidFill>
                <a:latin typeface="Malgun Gothic"/>
                <a:ea typeface="Malgun Gothic"/>
                <a:cs typeface="Malgun Gothic"/>
              </a:rPr>
              <a:t>현장 통신과 화면 운영을 분리한 구성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C9B961E-4EE8-4939-9B42-E930FFF51127}"/>
              </a:ext>
            </a:extLst>
          </p:cNvPr>
          <p:cNvSpPr>
            <a:spLocks noGrp="1"/>
          </p:cNvSpPr>
          <p:nvPr/>
        </p:nvSpPr>
        <p:spPr>
          <a:xfrm>
            <a:off x="11334750" y="6448425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0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0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4F19E26-6AFE-4962-90B4-9C7A64ACBD80}"/>
              </a:ext>
            </a:extLst>
          </p:cNvPr>
          <p:cNvSpPr>
            <a:spLocks noGrp="1"/>
          </p:cNvSpPr>
          <p:nvPr/>
        </p:nvSpPr>
        <p:spPr>
          <a:xfrm>
            <a:off x="619125" y="1924050"/>
            <a:ext cx="66675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775" b="1">
                <a:solidFill>
                  <a:srgbClr val="38BDF8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2775" b="1">
                <a:solidFill>
                  <a:srgbClr val="38BDF8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1">
                <a:solidFill>
                  <a:srgbClr val="38BDF8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0E7ADB3-055E-4D33-9D89-76A2E8AF5E61}"/>
              </a:ext>
            </a:extLst>
          </p:cNvPr>
          <p:cNvSpPr>
            <a:spLocks noGrp="1"/>
          </p:cNvSpPr>
          <p:nvPr/>
        </p:nvSpPr>
        <p:spPr>
          <a:xfrm>
            <a:off x="1476375" y="1924050"/>
            <a:ext cx="3429000" cy="4572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1">
                <a:solidFill>
                  <a:srgbClr val="0B1D3A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2025" b="1">
                <a:solidFill>
                  <a:srgbClr val="0B1D3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B1D3A"/>
                </a:solidFill>
                <a:latin typeface="Malgun Gothic"/>
                <a:ea typeface="Malgun Gothic"/>
                <a:cs typeface="Malgun Gothic"/>
              </a:rPr>
              <a:t>현장 설비 / PLC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901618B-AD20-4C4E-9322-A773A69AF51C}"/>
              </a:ext>
            </a:extLst>
          </p:cNvPr>
          <p:cNvSpPr>
            <a:spLocks noGrp="1"/>
          </p:cNvSpPr>
          <p:nvPr/>
        </p:nvSpPr>
        <p:spPr>
          <a:xfrm>
            <a:off x="5238750" y="1952625"/>
            <a:ext cx="6143625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72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센서 값과 장비 상태를 제공하고 제어 명령을 수행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4F3328B-9730-4380-B671-50D43F3D1B5C}"/>
              </a:ext>
            </a:extLst>
          </p:cNvPr>
          <p:cNvSpPr>
            <a:spLocks noGrp="1"/>
          </p:cNvSpPr>
          <p:nvPr/>
        </p:nvSpPr>
        <p:spPr>
          <a:xfrm>
            <a:off x="619125" y="2952750"/>
            <a:ext cx="66675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775" b="1">
                <a:solidFill>
                  <a:srgbClr val="38BDF8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2775" b="1">
                <a:solidFill>
                  <a:srgbClr val="38BDF8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1">
                <a:solidFill>
                  <a:srgbClr val="38BDF8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F73FBB1-BF5F-4C66-9469-8620BA034B6C}"/>
              </a:ext>
            </a:extLst>
          </p:cNvPr>
          <p:cNvSpPr>
            <a:spLocks noGrp="1"/>
          </p:cNvSpPr>
          <p:nvPr/>
        </p:nvSpPr>
        <p:spPr>
          <a:xfrm>
            <a:off x="1476375" y="2952750"/>
            <a:ext cx="3429000" cy="4572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1">
                <a:solidFill>
                  <a:srgbClr val="0B1D3A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2025" b="1">
                <a:solidFill>
                  <a:srgbClr val="0B1D3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B1D3A"/>
                </a:solidFill>
                <a:latin typeface="Malgun Gothic"/>
                <a:ea typeface="Malgun Gothic"/>
                <a:cs typeface="Malgun Gothic"/>
              </a:rPr>
              <a:t>JCore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BFAA591-EC17-41B0-AB96-2786399616BF}"/>
              </a:ext>
            </a:extLst>
          </p:cNvPr>
          <p:cNvSpPr>
            <a:spLocks noGrp="1"/>
          </p:cNvSpPr>
          <p:nvPr/>
        </p:nvSpPr>
        <p:spPr>
          <a:xfrm>
            <a:off x="5238750" y="2981325"/>
            <a:ext cx="6143625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72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PLC 통신, 태그 데이터, 알람과 이력 서비스를 제공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05CB79F-57A7-4F87-BC8F-49A7B4281BCA}"/>
              </a:ext>
            </a:extLst>
          </p:cNvPr>
          <p:cNvSpPr>
            <a:spLocks noGrp="1"/>
          </p:cNvSpPr>
          <p:nvPr/>
        </p:nvSpPr>
        <p:spPr>
          <a:xfrm>
            <a:off x="619125" y="3981450"/>
            <a:ext cx="66675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775" b="1">
                <a:solidFill>
                  <a:srgbClr val="38BDF8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2775" b="1">
                <a:solidFill>
                  <a:srgbClr val="38BDF8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1">
                <a:solidFill>
                  <a:srgbClr val="38BDF8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77BFDA4-1B08-4760-AC7C-D20738486F0B}"/>
              </a:ext>
            </a:extLst>
          </p:cNvPr>
          <p:cNvSpPr>
            <a:spLocks noGrp="1"/>
          </p:cNvSpPr>
          <p:nvPr/>
        </p:nvSpPr>
        <p:spPr>
          <a:xfrm>
            <a:off x="1476375" y="3981450"/>
            <a:ext cx="3429000" cy="4572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1">
                <a:solidFill>
                  <a:srgbClr val="0B1D3A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2025" b="1">
                <a:solidFill>
                  <a:srgbClr val="0B1D3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B1D3A"/>
                </a:solidFill>
                <a:latin typeface="Malgun Gothic"/>
                <a:ea typeface="Malgun Gothic"/>
                <a:cs typeface="Malgun Gothic"/>
              </a:rPr>
              <a:t>JView Server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E3F3FDD-668A-4F9D-A0C3-266007008908}"/>
              </a:ext>
            </a:extLst>
          </p:cNvPr>
          <p:cNvSpPr>
            <a:spLocks noGrp="1"/>
          </p:cNvSpPr>
          <p:nvPr/>
        </p:nvSpPr>
        <p:spPr>
          <a:xfrm>
            <a:off x="5238750" y="4010025"/>
            <a:ext cx="6143625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72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게시 프로젝트와 코어 연결, 인증 및 태그 접근을 관리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903B28D-A114-4C27-ADA4-FEF1D9FAA7FE}"/>
              </a:ext>
            </a:extLst>
          </p:cNvPr>
          <p:cNvSpPr>
            <a:spLocks noGrp="1"/>
          </p:cNvSpPr>
          <p:nvPr/>
        </p:nvSpPr>
        <p:spPr>
          <a:xfrm>
            <a:off x="619125" y="5010150"/>
            <a:ext cx="66675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775" b="1">
                <a:solidFill>
                  <a:srgbClr val="38BDF8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2775" b="1">
                <a:solidFill>
                  <a:srgbClr val="38BDF8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1">
                <a:solidFill>
                  <a:srgbClr val="38BDF8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1CB896C-B77E-4113-A8D7-F14C25606B7F}"/>
              </a:ext>
            </a:extLst>
          </p:cNvPr>
          <p:cNvSpPr>
            <a:spLocks noGrp="1"/>
          </p:cNvSpPr>
          <p:nvPr/>
        </p:nvSpPr>
        <p:spPr>
          <a:xfrm>
            <a:off x="1476375" y="5010150"/>
            <a:ext cx="3429000" cy="4572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1">
                <a:solidFill>
                  <a:srgbClr val="0B1D3A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2025" b="1">
                <a:solidFill>
                  <a:srgbClr val="0B1D3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B1D3A"/>
                </a:solidFill>
                <a:latin typeface="Malgun Gothic"/>
                <a:ea typeface="Malgun Gothic"/>
                <a:cs typeface="Malgun Gothic"/>
              </a:rPr>
              <a:t>웹 브라우저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F55A391-E8D6-4B7E-BB94-686F159B7258}"/>
              </a:ext>
            </a:extLst>
          </p:cNvPr>
          <p:cNvSpPr>
            <a:spLocks noGrp="1"/>
          </p:cNvSpPr>
          <p:nvPr/>
        </p:nvSpPr>
        <p:spPr>
          <a:xfrm>
            <a:off x="5238750" y="5038725"/>
            <a:ext cx="6143625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72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Designer에서 화면을 작성하고 Runtime에서 감시·조작</a:t>
            </a:r>
          </a:p>
        </p:txBody>
      </p:sp>
    </p:spTree>
    <p:extLst>
      <p:ext uri="{BB962C8B-B14F-4D97-AF65-F5344CB8AC3E}">
        <p14:creationId xmlns:p14="http://schemas.microsoft.com/office/powerpoint/2010/main" val="12848780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B8EE64BB-76BD-4839-94E2-02750ABE726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BCB55C0F-9C43-412B-B4AD-0355B2DD4186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0858500" cy="5905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700" b="1">
                <a:solidFill>
                  <a:srgbClr val="0B1D3A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2700" b="1">
                <a:solidFill>
                  <a:srgbClr val="0B1D3A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0B1D3A"/>
                </a:solidFill>
                <a:latin typeface="Malgun Gothic"/>
                <a:ea typeface="Malgun Gothic"/>
                <a:cs typeface="Malgun Gothic"/>
              </a:rPr>
              <a:t>브라우저 기반 화면 디자이너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31B181A-DC17-4729-BC21-348049919212}"/>
              </a:ext>
            </a:extLst>
          </p:cNvPr>
          <p:cNvSpPr>
            <a:spLocks noGrp="1"/>
          </p:cNvSpPr>
          <p:nvPr/>
        </p:nvSpPr>
        <p:spPr>
          <a:xfrm>
            <a:off x="590550" y="1066800"/>
            <a:ext cx="10477500" cy="3619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00" b="0">
                <a:solidFill>
                  <a:srgbClr val="1D70B8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500" b="0">
                <a:solidFill>
                  <a:srgbClr val="1D70B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D70B8"/>
                </a:solidFill>
                <a:latin typeface="Malgun Gothic"/>
                <a:ea typeface="Malgun Gothic"/>
                <a:cs typeface="Malgun Gothic"/>
              </a:rPr>
              <a:t>프로젝트 탐색기와 속성 편집으로 화면 작성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EE69C6E-CF87-4316-9DB4-BE375541515A}"/>
              </a:ext>
            </a:extLst>
          </p:cNvPr>
          <p:cNvSpPr>
            <a:spLocks noGrp="1"/>
          </p:cNvSpPr>
          <p:nvPr/>
        </p:nvSpPr>
        <p:spPr>
          <a:xfrm>
            <a:off x="11334750" y="6448425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0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0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7DD0848-DAD4-4906-BA68-F06C0FDF3F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74146" y="1695450"/>
            <a:ext cx="8043333" cy="4524375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6EF43E4B-89FF-47EC-B240-67529F176FC3}"/>
              </a:ext>
            </a:extLst>
          </p:cNvPr>
          <p:cNvSpPr>
            <a:spLocks noGrp="1"/>
          </p:cNvSpPr>
          <p:nvPr/>
        </p:nvSpPr>
        <p:spPr>
          <a:xfrm>
            <a:off x="9029700" y="1952625"/>
            <a:ext cx="247650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1">
                <a:solidFill>
                  <a:srgbClr val="1D70B8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2025" b="1">
                <a:solidFill>
                  <a:srgbClr val="1D70B8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D70B8"/>
                </a:solidFill>
                <a:latin typeface="Malgun Gothic"/>
                <a:ea typeface="Malgun Gothic"/>
                <a:cs typeface="Malgun Gothic"/>
              </a:rPr>
              <a:t>화면 편집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C327383-023B-425A-9E69-402840E78A70}"/>
              </a:ext>
            </a:extLst>
          </p:cNvPr>
          <p:cNvSpPr>
            <a:spLocks noGrp="1"/>
          </p:cNvSpPr>
          <p:nvPr/>
        </p:nvSpPr>
        <p:spPr>
          <a:xfrm>
            <a:off x="9029700" y="2571750"/>
            <a:ext cx="2590800" cy="2428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0B1D3A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650" b="0">
                <a:solidFill>
                  <a:srgbClr val="0B1D3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0B1D3A"/>
                </a:solidFill>
                <a:latin typeface="Malgun Gothic"/>
                <a:ea typeface="Malgun Gothic"/>
                <a:cs typeface="Malgun Gothic"/>
              </a:rPr>
              <a:t>다중 페이지와 팝업</a:t>
            </a:r>
          </a:p>
          <a:p>
            <a:pPr>
              <a:defRPr sz="1650" b="0">
                <a:solidFill>
                  <a:srgbClr val="0B1D3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0B1D3A"/>
                </a:solidFill>
                <a:latin typeface="Malgun Gothic"/>
                <a:ea typeface="Malgun Gothic"/>
                <a:cs typeface="Malgun Gothic"/>
              </a:rPr>
              <a:t>드래그 배치·영역 선택</a:t>
            </a:r>
          </a:p>
          <a:p>
            <a:pPr>
              <a:defRPr sz="1650" b="0">
                <a:solidFill>
                  <a:srgbClr val="0B1D3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0B1D3A"/>
                </a:solidFill>
                <a:latin typeface="Malgun Gothic"/>
                <a:ea typeface="Malgun Gothic"/>
                <a:cs typeface="Malgun Gothic"/>
              </a:rPr>
              <a:t>정렬·간격·크기 맞춤</a:t>
            </a:r>
          </a:p>
          <a:p>
            <a:pPr>
              <a:defRPr sz="1650" b="0">
                <a:solidFill>
                  <a:srgbClr val="0B1D3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0B1D3A"/>
                </a:solidFill>
                <a:latin typeface="Malgun Gothic"/>
                <a:ea typeface="Malgun Gothic"/>
                <a:cs typeface="Malgun Gothic"/>
              </a:rPr>
              <a:t>복사·실행 취소</a:t>
            </a:r>
          </a:p>
          <a:p>
            <a:pPr>
              <a:defRPr sz="1650" b="0">
                <a:solidFill>
                  <a:srgbClr val="0B1D3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0B1D3A"/>
                </a:solidFill>
                <a:latin typeface="Malgun Gothic"/>
                <a:ea typeface="Malgun Gothic"/>
                <a:cs typeface="Malgun Gothic"/>
              </a:rPr>
              <a:t>개별 디자인 탭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262B9D7-1831-48F5-BB67-C98972F02A9E}"/>
              </a:ext>
            </a:extLst>
          </p:cNvPr>
          <p:cNvSpPr>
            <a:spLocks noGrp="1"/>
          </p:cNvSpPr>
          <p:nvPr/>
        </p:nvSpPr>
        <p:spPr>
          <a:xfrm>
            <a:off x="609600" y="6257925"/>
            <a:ext cx="809625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12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12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프로젝트 내 예시 화면</a:t>
            </a:r>
          </a:p>
        </p:txBody>
      </p:sp>
    </p:spTree>
    <p:extLst>
      <p:ext uri="{BB962C8B-B14F-4D97-AF65-F5344CB8AC3E}">
        <p14:creationId xmlns:p14="http://schemas.microsoft.com/office/powerpoint/2010/main" val="1650748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B5A847B6-68BD-4A8F-945D-370A5DA954C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08A403BF-3D87-43F5-B79A-7B5D1BE37C63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0858500" cy="5905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700" b="1">
                <a:solidFill>
                  <a:srgbClr val="0B1D3A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2700" b="1">
                <a:solidFill>
                  <a:srgbClr val="0B1D3A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0B1D3A"/>
                </a:solidFill>
                <a:latin typeface="Malgun Gothic"/>
                <a:ea typeface="Malgun Gothic"/>
                <a:cs typeface="Malgun Gothic"/>
              </a:rPr>
              <a:t>객체와 심볼 표현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1AA475D-6AFA-423A-AB26-72A35B3B3831}"/>
              </a:ext>
            </a:extLst>
          </p:cNvPr>
          <p:cNvSpPr>
            <a:spLocks noGrp="1"/>
          </p:cNvSpPr>
          <p:nvPr/>
        </p:nvSpPr>
        <p:spPr>
          <a:xfrm>
            <a:off x="590550" y="1066800"/>
            <a:ext cx="10477500" cy="3619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00" b="0">
                <a:solidFill>
                  <a:srgbClr val="1D70B8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500" b="0">
                <a:solidFill>
                  <a:srgbClr val="1D70B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D70B8"/>
                </a:solidFill>
                <a:latin typeface="Malgun Gothic"/>
                <a:ea typeface="Malgun Gothic"/>
                <a:cs typeface="Malgun Gothic"/>
              </a:rPr>
              <a:t>공정의 상태를 색상과 숫자, 동작으로 표현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14A6972-19D6-4BB9-89FB-B9E76BC054DE}"/>
              </a:ext>
            </a:extLst>
          </p:cNvPr>
          <p:cNvSpPr>
            <a:spLocks noGrp="1"/>
          </p:cNvSpPr>
          <p:nvPr/>
        </p:nvSpPr>
        <p:spPr>
          <a:xfrm>
            <a:off x="11334750" y="6448425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0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0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76E23D4-792E-4DE5-9515-BC9FD3640D72}"/>
              </a:ext>
            </a:extLst>
          </p:cNvPr>
          <p:cNvSpPr>
            <a:spLocks noGrp="1"/>
          </p:cNvSpPr>
          <p:nvPr/>
        </p:nvSpPr>
        <p:spPr>
          <a:xfrm>
            <a:off x="619125" y="1933575"/>
            <a:ext cx="5095875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1">
                <a:solidFill>
                  <a:srgbClr val="1D70B8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950" b="1">
                <a:solidFill>
                  <a:srgbClr val="1D70B8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D70B8"/>
                </a:solidFill>
                <a:latin typeface="Malgun Gothic"/>
                <a:ea typeface="Malgun Gothic"/>
                <a:cs typeface="Malgun Gothic"/>
              </a:rPr>
              <a:t>기본 객체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13254AE-8155-4ACD-B43F-1FB3C6A05A36}"/>
              </a:ext>
            </a:extLst>
          </p:cNvPr>
          <p:cNvSpPr>
            <a:spLocks noGrp="1"/>
          </p:cNvSpPr>
          <p:nvPr/>
        </p:nvSpPr>
        <p:spPr>
          <a:xfrm>
            <a:off x="619125" y="2381250"/>
            <a:ext cx="5095875" cy="857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6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텍스트, 숫자, 문자열, 램프, 버튼과 도형을</a:t>
            </a:r>
          </a:p>
          <a:p>
            <a:pPr>
              <a:defRPr sz="16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조합해 설비별 운영 화면을 구성합니다.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AD12C19-D6CE-4938-A39A-D2EE31B8DB4A}"/>
              </a:ext>
            </a:extLst>
          </p:cNvPr>
          <p:cNvSpPr>
            <a:spLocks noGrp="1"/>
          </p:cNvSpPr>
          <p:nvPr/>
        </p:nvSpPr>
        <p:spPr>
          <a:xfrm>
            <a:off x="619125" y="3790950"/>
            <a:ext cx="5095875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1">
                <a:solidFill>
                  <a:srgbClr val="1D70B8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950" b="1">
                <a:solidFill>
                  <a:srgbClr val="1D70B8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D70B8"/>
                </a:solidFill>
                <a:latin typeface="Malgun Gothic"/>
                <a:ea typeface="Malgun Gothic"/>
                <a:cs typeface="Malgun Gothic"/>
              </a:rPr>
              <a:t>산업용 심볼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12E1EB2-2432-4E27-B81C-D2639DB14498}"/>
              </a:ext>
            </a:extLst>
          </p:cNvPr>
          <p:cNvSpPr>
            <a:spLocks noGrp="1"/>
          </p:cNvSpPr>
          <p:nvPr/>
        </p:nvSpPr>
        <p:spPr>
          <a:xfrm>
            <a:off x="619125" y="4238625"/>
            <a:ext cx="5095875" cy="857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6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Pump, Valve, Tank, Rotate, Arrow 라이브러리와</a:t>
            </a:r>
          </a:p>
          <a:p>
            <a:pPr>
              <a:defRPr sz="16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심볼 편집기로 공정에 필요한 모양을 구성합니다.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FCE5784-1C93-472E-8E11-13B1A1616CFE}"/>
              </a:ext>
            </a:extLst>
          </p:cNvPr>
          <p:cNvSpPr>
            <a:spLocks noGrp="1"/>
          </p:cNvSpPr>
          <p:nvPr/>
        </p:nvSpPr>
        <p:spPr>
          <a:xfrm>
            <a:off x="6381750" y="1933575"/>
            <a:ext cx="5095875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1">
                <a:solidFill>
                  <a:srgbClr val="1D70B8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950" b="1">
                <a:solidFill>
                  <a:srgbClr val="1D70B8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D70B8"/>
                </a:solidFill>
                <a:latin typeface="Malgun Gothic"/>
                <a:ea typeface="Malgun Gothic"/>
                <a:cs typeface="Malgun Gothic"/>
              </a:rPr>
              <a:t>값과 상태 바인딩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F666235-CE75-46DE-AE70-282CCC08CC84}"/>
              </a:ext>
            </a:extLst>
          </p:cNvPr>
          <p:cNvSpPr>
            <a:spLocks noGrp="1"/>
          </p:cNvSpPr>
          <p:nvPr/>
        </p:nvSpPr>
        <p:spPr>
          <a:xfrm>
            <a:off x="6381750" y="2381250"/>
            <a:ext cx="5095875" cy="857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6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채우기 색상, 표시 여부, 회전과 블링크를</a:t>
            </a:r>
          </a:p>
          <a:p>
            <a:pPr>
              <a:defRPr sz="16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태그 값 또는 조건에 연결합니다.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A6F7A71-FDDA-4F63-A1EC-47814846688E}"/>
              </a:ext>
            </a:extLst>
          </p:cNvPr>
          <p:cNvSpPr>
            <a:spLocks noGrp="1"/>
          </p:cNvSpPr>
          <p:nvPr/>
        </p:nvSpPr>
        <p:spPr>
          <a:xfrm>
            <a:off x="6381750" y="3790950"/>
            <a:ext cx="5095875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1">
                <a:solidFill>
                  <a:srgbClr val="1D70B8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950" b="1">
                <a:solidFill>
                  <a:srgbClr val="1D70B8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D70B8"/>
                </a:solidFill>
                <a:latin typeface="Malgun Gothic"/>
                <a:ea typeface="Malgun Gothic"/>
                <a:cs typeface="Malgun Gothic"/>
              </a:rPr>
              <a:t>숫자 표시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E62C1D4-8199-42B8-AE04-DF325B0B0A11}"/>
              </a:ext>
            </a:extLst>
          </p:cNvPr>
          <p:cNvSpPr>
            <a:spLocks noGrp="1"/>
          </p:cNvSpPr>
          <p:nvPr/>
        </p:nvSpPr>
        <p:spPr>
          <a:xfrm>
            <a:off x="6381750" y="4238625"/>
            <a:ext cx="5095875" cy="857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6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폰트 또는 7세그먼트를 선택하고 표시 형식,</a:t>
            </a:r>
          </a:p>
          <a:p>
            <a:pPr>
              <a:defRPr sz="16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Unit 글꼴·색상·정렬을 설정합니다.</a:t>
            </a:r>
          </a:p>
        </p:txBody>
      </p:sp>
    </p:spTree>
    <p:extLst>
      <p:ext uri="{BB962C8B-B14F-4D97-AF65-F5344CB8AC3E}">
        <p14:creationId xmlns:p14="http://schemas.microsoft.com/office/powerpoint/2010/main" val="1946368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729D36D7-8841-4DA1-A38B-60ECA3ACA0A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6AE7E0BC-179E-4DC5-A8FB-450341B99AB4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0858500" cy="5905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700" b="1">
                <a:solidFill>
                  <a:srgbClr val="0B1D3A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2700" b="1">
                <a:solidFill>
                  <a:srgbClr val="0B1D3A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0B1D3A"/>
                </a:solidFill>
                <a:latin typeface="Malgun Gothic"/>
                <a:ea typeface="Malgun Gothic"/>
                <a:cs typeface="Malgun Gothic"/>
              </a:rPr>
              <a:t>공통 게시 태그 관리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25B3354-E82A-46F2-861A-48CB5BE92B60}"/>
              </a:ext>
            </a:extLst>
          </p:cNvPr>
          <p:cNvSpPr>
            <a:spLocks noGrp="1"/>
          </p:cNvSpPr>
          <p:nvPr/>
        </p:nvSpPr>
        <p:spPr>
          <a:xfrm>
            <a:off x="590550" y="1066800"/>
            <a:ext cx="10477500" cy="3619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00" b="0">
                <a:solidFill>
                  <a:srgbClr val="1D70B8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500" b="0">
                <a:solidFill>
                  <a:srgbClr val="1D70B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D70B8"/>
                </a:solidFill>
                <a:latin typeface="Malgun Gothic"/>
                <a:ea typeface="Malgun Gothic"/>
                <a:cs typeface="Malgun Gothic"/>
              </a:rPr>
              <a:t>코어에서 가져온 태그 목록을 바인딩과 스크립트에 사용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3C50C3D-91BC-44EB-BB84-6D56E67896D7}"/>
              </a:ext>
            </a:extLst>
          </p:cNvPr>
          <p:cNvSpPr>
            <a:spLocks noGrp="1"/>
          </p:cNvSpPr>
          <p:nvPr/>
        </p:nvSpPr>
        <p:spPr>
          <a:xfrm>
            <a:off x="11334750" y="6448425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0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0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53FF1BD-3A98-4B7F-9442-E3ECDED8E702}"/>
              </a:ext>
            </a:extLst>
          </p:cNvPr>
          <p:cNvSpPr>
            <a:spLocks noGrp="1"/>
          </p:cNvSpPr>
          <p:nvPr/>
        </p:nvSpPr>
        <p:spPr>
          <a:xfrm>
            <a:off x="619125" y="2028825"/>
            <a:ext cx="495300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1">
                <a:solidFill>
                  <a:srgbClr val="1D70B8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2250" b="1">
                <a:solidFill>
                  <a:srgbClr val="1D70B8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D70B8"/>
                </a:solidFill>
                <a:latin typeface="Malgun Gothic"/>
                <a:ea typeface="Malgun Gothic"/>
                <a:cs typeface="Malgun Gothic"/>
              </a:rPr>
              <a:t>태그 가져오기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A891F8F-37BA-4B44-BF0B-AC1B61F916B8}"/>
              </a:ext>
            </a:extLst>
          </p:cNvPr>
          <p:cNvSpPr>
            <a:spLocks noGrp="1"/>
          </p:cNvSpPr>
          <p:nvPr/>
        </p:nvSpPr>
        <p:spPr>
          <a:xfrm>
            <a:off x="619125" y="2667000"/>
            <a:ext cx="5095875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0B1D3A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875" b="0">
                <a:solidFill>
                  <a:srgbClr val="0B1D3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0B1D3A"/>
                </a:solidFill>
                <a:latin typeface="Malgun Gothic"/>
                <a:ea typeface="Malgun Gothic"/>
                <a:cs typeface="Malgun Gothic"/>
              </a:rPr>
              <a:t>코어 연결에 등록한 프로젝트의 태그를 읽고</a:t>
            </a:r>
          </a:p>
          <a:p>
            <a:pPr>
              <a:defRPr sz="1875" b="0">
                <a:solidFill>
                  <a:srgbClr val="0B1D3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0B1D3A"/>
                </a:solidFill>
                <a:latin typeface="Malgun Gothic"/>
                <a:ea typeface="Malgun Gothic"/>
                <a:cs typeface="Malgun Gothic"/>
              </a:rPr>
              <a:t>게시할 항목을 선택합니다.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428C081-8D85-4BC0-BA0D-51027D5D3476}"/>
              </a:ext>
            </a:extLst>
          </p:cNvPr>
          <p:cNvSpPr>
            <a:spLocks noGrp="1"/>
          </p:cNvSpPr>
          <p:nvPr/>
        </p:nvSpPr>
        <p:spPr>
          <a:xfrm>
            <a:off x="619125" y="4114800"/>
            <a:ext cx="5095875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1">
                <a:solidFill>
                  <a:srgbClr val="1D70B8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2250" b="1">
                <a:solidFill>
                  <a:srgbClr val="1D70B8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D70B8"/>
                </a:solidFill>
                <a:latin typeface="Malgun Gothic"/>
                <a:ea typeface="Malgun Gothic"/>
                <a:cs typeface="Malgun Gothic"/>
              </a:rPr>
              <a:t>목록 검색과 직접 입력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7823C4E-F102-4905-880F-C8BE99CC0F7B}"/>
              </a:ext>
            </a:extLst>
          </p:cNvPr>
          <p:cNvSpPr>
            <a:spLocks noGrp="1"/>
          </p:cNvSpPr>
          <p:nvPr/>
        </p:nvSpPr>
        <p:spPr>
          <a:xfrm>
            <a:off x="619125" y="4714875"/>
            <a:ext cx="5191125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0B1D3A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725" b="0">
                <a:solidFill>
                  <a:srgbClr val="0B1D3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0B1D3A"/>
                </a:solidFill>
                <a:latin typeface="Malgun Gothic"/>
                <a:ea typeface="Malgun Gothic"/>
                <a:cs typeface="Malgun Gothic"/>
              </a:rPr>
              <a:t>객체 바인딩과 스크립트에서 같은 목록을 사용하며</a:t>
            </a:r>
          </a:p>
          <a:p>
            <a:pPr>
              <a:defRPr sz="1725" b="0">
                <a:solidFill>
                  <a:srgbClr val="0B1D3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0B1D3A"/>
                </a:solidFill>
                <a:latin typeface="Malgun Gothic"/>
                <a:ea typeface="Malgun Gothic"/>
                <a:cs typeface="Malgun Gothic"/>
              </a:rPr>
              <a:t>단일 프로젝트는 태그 이름만 입력할 수 있습니다.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CF85A01-6E89-464B-870D-480F36C98E76}"/>
              </a:ext>
            </a:extLst>
          </p:cNvPr>
          <p:cNvSpPr>
            <a:spLocks noGrp="1"/>
          </p:cNvSpPr>
          <p:nvPr/>
        </p:nvSpPr>
        <p:spPr>
          <a:xfrm>
            <a:off x="6572250" y="2009775"/>
            <a:ext cx="457200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1">
                <a:solidFill>
                  <a:srgbClr val="1D70B8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2250" b="1">
                <a:solidFill>
                  <a:srgbClr val="1D70B8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D70B8"/>
                </a:solidFill>
                <a:latin typeface="Malgun Gothic"/>
                <a:ea typeface="Malgun Gothic"/>
                <a:cs typeface="Malgun Gothic"/>
              </a:rPr>
              <a:t>목록 운영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667601E-EA0F-4512-B191-F796D45CFCAE}"/>
              </a:ext>
            </a:extLst>
          </p:cNvPr>
          <p:cNvSpPr>
            <a:spLocks noGrp="1"/>
          </p:cNvSpPr>
          <p:nvPr/>
        </p:nvSpPr>
        <p:spPr>
          <a:xfrm>
            <a:off x="6572250" y="2667000"/>
            <a:ext cx="4857750" cy="1714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0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80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CSV 가져오기·내보내기</a:t>
            </a:r>
          </a:p>
          <a:p>
            <a:pPr>
              <a:defRPr sz="180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태그 수와 라이선스 범위 확인</a:t>
            </a:r>
          </a:p>
          <a:p>
            <a:pPr>
              <a:defRPr sz="180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JCore 변경 후 다시 읽어 목록 갱신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D92B63C-C7E2-471A-8CED-AC776489BBDD}"/>
              </a:ext>
            </a:extLst>
          </p:cNvPr>
          <p:cNvSpPr>
            <a:spLocks noGrp="1"/>
          </p:cNvSpPr>
          <p:nvPr/>
        </p:nvSpPr>
        <p:spPr>
          <a:xfrm>
            <a:off x="6572250" y="4138331"/>
            <a:ext cx="485775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1">
                <a:solidFill>
                  <a:srgbClr val="1D70B8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2100" b="1">
                <a:solidFill>
                  <a:srgbClr val="1D70B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 dirty="0" err="1">
                <a:solidFill>
                  <a:srgbClr val="1D70B8"/>
                </a:solidFill>
                <a:latin typeface="Malgun Gothic"/>
                <a:ea typeface="Malgun Gothic"/>
                <a:cs typeface="Malgun Gothic"/>
              </a:rPr>
              <a:t>미리보기</a:t>
            </a:r>
            <a:r>
              <a:rPr sz="2100" b="1" dirty="0">
                <a:solidFill>
                  <a:srgbClr val="1D70B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100" b="1" dirty="0" err="1">
                <a:solidFill>
                  <a:srgbClr val="1D70B8"/>
                </a:solidFill>
                <a:latin typeface="Malgun Gothic"/>
                <a:ea typeface="Malgun Gothic"/>
                <a:cs typeface="Malgun Gothic"/>
              </a:rPr>
              <a:t>태그</a:t>
            </a:r>
            <a:r>
              <a:rPr sz="2100" b="1" dirty="0">
                <a:solidFill>
                  <a:srgbClr val="1D70B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100" b="1" dirty="0" err="1">
                <a:solidFill>
                  <a:srgbClr val="1D70B8"/>
                </a:solidFill>
                <a:latin typeface="Malgun Gothic"/>
                <a:ea typeface="Malgun Gothic"/>
                <a:cs typeface="Malgun Gothic"/>
              </a:rPr>
              <a:t>준비</a:t>
            </a:r>
            <a:endParaRPr sz="2100" b="1" dirty="0">
              <a:solidFill>
                <a:srgbClr val="1D70B8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25B6D7A-8E02-447D-B755-667486F72842}"/>
              </a:ext>
            </a:extLst>
          </p:cNvPr>
          <p:cNvSpPr>
            <a:spLocks noGrp="1"/>
          </p:cNvSpPr>
          <p:nvPr/>
        </p:nvSpPr>
        <p:spPr>
          <a:xfrm>
            <a:off x="6572250" y="4681256"/>
            <a:ext cx="485775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72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운영 화면 게시본을 바꾸지 않고</a:t>
            </a:r>
          </a:p>
          <a:p>
            <a:pPr>
              <a:defRPr sz="172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선택 태그를 JCore에 등록합니다.</a:t>
            </a:r>
          </a:p>
        </p:txBody>
      </p:sp>
    </p:spTree>
    <p:extLst>
      <p:ext uri="{BB962C8B-B14F-4D97-AF65-F5344CB8AC3E}">
        <p14:creationId xmlns:p14="http://schemas.microsoft.com/office/powerpoint/2010/main" val="3455147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3D40434C-AF6F-4C18-BAAB-4D99F5B8A2C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17AB00D4-8A5A-40E9-A56C-EDE83BD79ED5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0858500" cy="5905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700" b="1">
                <a:solidFill>
                  <a:srgbClr val="0B1D3A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2700" b="1">
                <a:solidFill>
                  <a:srgbClr val="0B1D3A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0B1D3A"/>
                </a:solidFill>
                <a:latin typeface="Malgun Gothic"/>
                <a:ea typeface="Malgun Gothic"/>
                <a:cs typeface="Malgun Gothic"/>
              </a:rPr>
              <a:t>현재 알람과 알람 이력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EC3D093-3D88-4A78-9B1F-24D3854C8BD4}"/>
              </a:ext>
            </a:extLst>
          </p:cNvPr>
          <p:cNvSpPr>
            <a:spLocks noGrp="1"/>
          </p:cNvSpPr>
          <p:nvPr/>
        </p:nvSpPr>
        <p:spPr>
          <a:xfrm>
            <a:off x="590550" y="1066800"/>
            <a:ext cx="10477500" cy="3619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00" b="0">
                <a:solidFill>
                  <a:srgbClr val="1D70B8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500" b="0">
                <a:solidFill>
                  <a:srgbClr val="1D70B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D70B8"/>
                </a:solidFill>
                <a:latin typeface="Malgun Gothic"/>
                <a:ea typeface="Malgun Gothic"/>
                <a:cs typeface="Malgun Gothic"/>
              </a:rPr>
              <a:t>현재 상태 확인과 과거 발생 이력 조회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894897C-193F-4D57-8C03-8416A9AEBA6E}"/>
              </a:ext>
            </a:extLst>
          </p:cNvPr>
          <p:cNvSpPr>
            <a:spLocks noGrp="1"/>
          </p:cNvSpPr>
          <p:nvPr/>
        </p:nvSpPr>
        <p:spPr>
          <a:xfrm>
            <a:off x="11334750" y="6448425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0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0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8C2F6DE-2485-4E3B-9405-BFFC968A66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90550" y="1772543"/>
            <a:ext cx="7362825" cy="4141589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F922B489-95BA-4F58-80FE-D5213AE275FB}"/>
              </a:ext>
            </a:extLst>
          </p:cNvPr>
          <p:cNvSpPr>
            <a:spLocks noGrp="1"/>
          </p:cNvSpPr>
          <p:nvPr/>
        </p:nvSpPr>
        <p:spPr>
          <a:xfrm>
            <a:off x="8343900" y="1895475"/>
            <a:ext cx="3238500" cy="4095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1">
                <a:solidFill>
                  <a:srgbClr val="1D70B8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2100" b="1">
                <a:solidFill>
                  <a:srgbClr val="1D70B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D70B8"/>
                </a:solidFill>
                <a:latin typeface="Malgun Gothic"/>
                <a:ea typeface="Malgun Gothic"/>
                <a:cs typeface="Malgun Gothic"/>
              </a:rPr>
              <a:t>현재 알람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3A3A919-567D-4277-A06C-5CCC905D38C8}"/>
              </a:ext>
            </a:extLst>
          </p:cNvPr>
          <p:cNvSpPr>
            <a:spLocks noGrp="1"/>
          </p:cNvSpPr>
          <p:nvPr/>
        </p:nvSpPr>
        <p:spPr>
          <a:xfrm>
            <a:off x="8343900" y="2428875"/>
            <a:ext cx="3276600" cy="1190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0">
                <a:solidFill>
                  <a:srgbClr val="0B1D3A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575" b="0">
                <a:solidFill>
                  <a:srgbClr val="0B1D3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0B1D3A"/>
                </a:solidFill>
                <a:latin typeface="Malgun Gothic"/>
                <a:ea typeface="Malgun Gothic"/>
                <a:cs typeface="Malgun Gothic"/>
              </a:rPr>
              <a:t>상·하단 바에 상태와 건수 표시</a:t>
            </a:r>
          </a:p>
          <a:p>
            <a:pPr>
              <a:defRPr sz="1575" b="0">
                <a:solidFill>
                  <a:srgbClr val="0B1D3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0B1D3A"/>
                </a:solidFill>
                <a:latin typeface="Malgun Gothic"/>
                <a:ea typeface="Malgun Gothic"/>
                <a:cs typeface="Malgun Gothic"/>
              </a:rPr>
              <a:t>펼치기·접기로 리스트 확인</a:t>
            </a:r>
          </a:p>
          <a:p>
            <a:pPr>
              <a:defRPr sz="1575" b="0">
                <a:solidFill>
                  <a:srgbClr val="0B1D3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0B1D3A"/>
                </a:solidFill>
                <a:latin typeface="Malgun Gothic"/>
                <a:ea typeface="Malgun Gothic"/>
                <a:cs typeface="Malgun Gothic"/>
              </a:rPr>
              <a:t>트리 보기와 상태 색상 설정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4D9A0FC-5760-409B-9480-54A215A415E9}"/>
              </a:ext>
            </a:extLst>
          </p:cNvPr>
          <p:cNvSpPr>
            <a:spLocks noGrp="1"/>
          </p:cNvSpPr>
          <p:nvPr/>
        </p:nvSpPr>
        <p:spPr>
          <a:xfrm>
            <a:off x="8343900" y="4019550"/>
            <a:ext cx="3238500" cy="4095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1">
                <a:solidFill>
                  <a:srgbClr val="1D70B8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2100" b="1">
                <a:solidFill>
                  <a:srgbClr val="1D70B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D70B8"/>
                </a:solidFill>
                <a:latin typeface="Malgun Gothic"/>
                <a:ea typeface="Malgun Gothic"/>
                <a:cs typeface="Malgun Gothic"/>
              </a:rPr>
              <a:t>알람 이력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8EE5A63-0DD0-4795-B574-513C043D69D2}"/>
              </a:ext>
            </a:extLst>
          </p:cNvPr>
          <p:cNvSpPr>
            <a:spLocks noGrp="1"/>
          </p:cNvSpPr>
          <p:nvPr/>
        </p:nvSpPr>
        <p:spPr>
          <a:xfrm>
            <a:off x="8343900" y="4572000"/>
            <a:ext cx="32766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0">
                <a:solidFill>
                  <a:srgbClr val="0B1D3A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575" b="0">
                <a:solidFill>
                  <a:srgbClr val="0B1D3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0B1D3A"/>
                </a:solidFill>
                <a:latin typeface="Malgun Gothic"/>
                <a:ea typeface="Malgun Gothic"/>
                <a:cs typeface="Malgun Gothic"/>
              </a:rPr>
              <a:t>기간과 태그 조건으로 조회</a:t>
            </a:r>
          </a:p>
          <a:p>
            <a:pPr>
              <a:defRPr sz="1575" b="0">
                <a:solidFill>
                  <a:srgbClr val="0B1D3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0B1D3A"/>
                </a:solidFill>
                <a:latin typeface="Malgun Gothic"/>
                <a:ea typeface="Malgun Gothic"/>
                <a:cs typeface="Malgun Gothic"/>
              </a:rPr>
              <a:t>발생·해제 시각과 품질 확인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7B91788-AF10-4F38-9972-D248F975960E}"/>
              </a:ext>
            </a:extLst>
          </p:cNvPr>
          <p:cNvSpPr>
            <a:spLocks noGrp="1"/>
          </p:cNvSpPr>
          <p:nvPr/>
        </p:nvSpPr>
        <p:spPr>
          <a:xfrm>
            <a:off x="619125" y="6048375"/>
            <a:ext cx="714375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20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알람·트렌드 개발 예시 화면</a:t>
            </a:r>
          </a:p>
        </p:txBody>
      </p:sp>
    </p:spTree>
    <p:extLst>
      <p:ext uri="{BB962C8B-B14F-4D97-AF65-F5344CB8AC3E}">
        <p14:creationId xmlns:p14="http://schemas.microsoft.com/office/powerpoint/2010/main" val="20866846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D9C2615F-5FF9-42D6-8591-613FA954B75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83C2F269-C02D-44BA-9EA7-60DA66D54D2F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0858500" cy="5905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700" b="1">
                <a:solidFill>
                  <a:srgbClr val="0B1D3A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2700" b="1">
                <a:solidFill>
                  <a:srgbClr val="0B1D3A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0B1D3A"/>
                </a:solidFill>
                <a:latin typeface="Malgun Gothic"/>
                <a:ea typeface="Malgun Gothic"/>
                <a:cs typeface="Malgun Gothic"/>
              </a:rPr>
              <a:t>실시간·이력 트렌드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12E4FF9-B844-4ED1-9063-41BDA72E4ECE}"/>
              </a:ext>
            </a:extLst>
          </p:cNvPr>
          <p:cNvSpPr>
            <a:spLocks noGrp="1"/>
          </p:cNvSpPr>
          <p:nvPr/>
        </p:nvSpPr>
        <p:spPr>
          <a:xfrm>
            <a:off x="590550" y="1066800"/>
            <a:ext cx="10477500" cy="3619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00" b="0">
                <a:solidFill>
                  <a:srgbClr val="1D70B8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500" b="0">
                <a:solidFill>
                  <a:srgbClr val="1D70B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D70B8"/>
                </a:solidFill>
                <a:latin typeface="Malgun Gothic"/>
                <a:ea typeface="Malgun Gothic"/>
                <a:cs typeface="Malgun Gothic"/>
              </a:rPr>
              <a:t>시간 흐름을 따라 감시하고 필요한 구간을 확대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F73A714-93F8-4C7B-9553-6C044E308020}"/>
              </a:ext>
            </a:extLst>
          </p:cNvPr>
          <p:cNvSpPr>
            <a:spLocks noGrp="1"/>
          </p:cNvSpPr>
          <p:nvPr/>
        </p:nvSpPr>
        <p:spPr>
          <a:xfrm>
            <a:off x="11334750" y="6448425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0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0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D40936C-A620-406E-83B0-9C0D90DBD254}"/>
              </a:ext>
            </a:extLst>
          </p:cNvPr>
          <p:cNvSpPr>
            <a:spLocks noGrp="1"/>
          </p:cNvSpPr>
          <p:nvPr/>
        </p:nvSpPr>
        <p:spPr>
          <a:xfrm>
            <a:off x="619125" y="1981200"/>
            <a:ext cx="5095875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1">
                <a:solidFill>
                  <a:srgbClr val="1D70B8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950" b="1">
                <a:solidFill>
                  <a:srgbClr val="1D70B8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D70B8"/>
                </a:solidFill>
                <a:latin typeface="Malgun Gothic"/>
                <a:ea typeface="Malgun Gothic"/>
                <a:cs typeface="Malgun Gothic"/>
              </a:rPr>
              <a:t>시작과 정지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A1D819B-9B6F-4598-91FD-9318D0522BD8}"/>
              </a:ext>
            </a:extLst>
          </p:cNvPr>
          <p:cNvSpPr>
            <a:spLocks noGrp="1"/>
          </p:cNvSpPr>
          <p:nvPr/>
        </p:nvSpPr>
        <p:spPr>
          <a:xfrm>
            <a:off x="619125" y="2428875"/>
            <a:ext cx="5095875" cy="857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6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시작은 현재 시간을 따라 표시하고, 정지는</a:t>
            </a:r>
          </a:p>
          <a:p>
            <a:pPr>
              <a:defRPr sz="16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시간을 고정해 조회 구간을 살펴봅니다.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FD506EE-AF14-411B-804B-9148A0E07170}"/>
              </a:ext>
            </a:extLst>
          </p:cNvPr>
          <p:cNvSpPr>
            <a:spLocks noGrp="1"/>
          </p:cNvSpPr>
          <p:nvPr/>
        </p:nvSpPr>
        <p:spPr>
          <a:xfrm>
            <a:off x="619125" y="3886200"/>
            <a:ext cx="5095875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1">
                <a:solidFill>
                  <a:srgbClr val="1D70B8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950" b="1">
                <a:solidFill>
                  <a:srgbClr val="1D70B8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D70B8"/>
                </a:solidFill>
                <a:latin typeface="Malgun Gothic"/>
                <a:ea typeface="Malgun Gothic"/>
                <a:cs typeface="Malgun Gothic"/>
              </a:rPr>
              <a:t>이력 조회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8B37699-24B3-4CB3-BA0A-9CB00E4A4F48}"/>
              </a:ext>
            </a:extLst>
          </p:cNvPr>
          <p:cNvSpPr>
            <a:spLocks noGrp="1"/>
          </p:cNvSpPr>
          <p:nvPr/>
        </p:nvSpPr>
        <p:spPr>
          <a:xfrm>
            <a:off x="619125" y="4333875"/>
            <a:ext cx="5095875" cy="857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6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JCore에 저장된 태그 이력을 불러옵니다.</a:t>
            </a:r>
          </a:p>
          <a:p>
            <a:pPr>
              <a:defRPr sz="16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시간 범위 선택과 기간 검색을 지원합니다.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A6A1EB8-1736-4CC9-9F7D-06AD846CA74F}"/>
              </a:ext>
            </a:extLst>
          </p:cNvPr>
          <p:cNvSpPr>
            <a:spLocks noGrp="1"/>
          </p:cNvSpPr>
          <p:nvPr/>
        </p:nvSpPr>
        <p:spPr>
          <a:xfrm>
            <a:off x="6381750" y="1981200"/>
            <a:ext cx="5095875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1">
                <a:solidFill>
                  <a:srgbClr val="1D70B8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950" b="1">
                <a:solidFill>
                  <a:srgbClr val="1D70B8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D70B8"/>
                </a:solidFill>
                <a:latin typeface="Malgun Gothic"/>
                <a:ea typeface="Malgun Gothic"/>
                <a:cs typeface="Malgun Gothic"/>
              </a:rPr>
              <a:t>구간 확대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331B261-171B-4AE9-B10E-7E330110A3AD}"/>
              </a:ext>
            </a:extLst>
          </p:cNvPr>
          <p:cNvSpPr>
            <a:spLocks noGrp="1"/>
          </p:cNvSpPr>
          <p:nvPr/>
        </p:nvSpPr>
        <p:spPr>
          <a:xfrm>
            <a:off x="6381750" y="2428875"/>
            <a:ext cx="5095875" cy="857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6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마우스 드래그로 시간 구간을 확대하고</a:t>
            </a:r>
          </a:p>
          <a:p>
            <a:pPr>
              <a:defRPr sz="16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우클릭 메뉴에서 확대를 초기화합니다.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4392A5C-E1B6-42F7-AA5D-097AE0973158}"/>
              </a:ext>
            </a:extLst>
          </p:cNvPr>
          <p:cNvSpPr>
            <a:spLocks noGrp="1"/>
          </p:cNvSpPr>
          <p:nvPr/>
        </p:nvSpPr>
        <p:spPr>
          <a:xfrm>
            <a:off x="6381750" y="3886200"/>
            <a:ext cx="5095875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1">
                <a:solidFill>
                  <a:srgbClr val="1D70B8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950" b="1">
                <a:solidFill>
                  <a:srgbClr val="1D70B8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D70B8"/>
                </a:solidFill>
                <a:latin typeface="Malgun Gothic"/>
                <a:ea typeface="Malgun Gothic"/>
                <a:cs typeface="Malgun Gothic"/>
              </a:rPr>
              <a:t>펜 목록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F55AECB-ECB1-4812-8F01-BA778C5D40F3}"/>
              </a:ext>
            </a:extLst>
          </p:cNvPr>
          <p:cNvSpPr>
            <a:spLocks noGrp="1"/>
          </p:cNvSpPr>
          <p:nvPr/>
        </p:nvSpPr>
        <p:spPr>
          <a:xfrm>
            <a:off x="6381750" y="4333875"/>
            <a:ext cx="5095875" cy="857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6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태그명, 색상, 값과 범위를 그리드에서 확인하고</a:t>
            </a:r>
          </a:p>
          <a:p>
            <a:pPr>
              <a:defRPr sz="16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각 펜의 표시 여부를 선택합니다.</a:t>
            </a:r>
          </a:p>
        </p:txBody>
      </p:sp>
    </p:spTree>
    <p:extLst>
      <p:ext uri="{BB962C8B-B14F-4D97-AF65-F5344CB8AC3E}">
        <p14:creationId xmlns:p14="http://schemas.microsoft.com/office/powerpoint/2010/main" val="5069283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DD1E4C77-FD14-4A8F-8300-F38FADC6232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E53DFC0D-BF61-4ABB-B1DB-2AB35F53ED01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0858500" cy="5905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700" b="1">
                <a:solidFill>
                  <a:srgbClr val="0B1D3A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2700" b="1">
                <a:solidFill>
                  <a:srgbClr val="0B1D3A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0B1D3A"/>
                </a:solidFill>
                <a:latin typeface="Malgun Gothic"/>
                <a:ea typeface="Malgun Gothic"/>
                <a:cs typeface="Malgun Gothic"/>
              </a:rPr>
              <a:t>페이지 이동과 팝업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36A9309-31DE-4516-AD84-60CC9A1E5890}"/>
              </a:ext>
            </a:extLst>
          </p:cNvPr>
          <p:cNvSpPr>
            <a:spLocks noGrp="1"/>
          </p:cNvSpPr>
          <p:nvPr/>
        </p:nvSpPr>
        <p:spPr>
          <a:xfrm>
            <a:off x="590550" y="1066800"/>
            <a:ext cx="10477500" cy="3619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00" b="0">
                <a:solidFill>
                  <a:srgbClr val="1D70B8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500" b="0">
                <a:solidFill>
                  <a:srgbClr val="1D70B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D70B8"/>
                </a:solidFill>
                <a:latin typeface="Malgun Gothic"/>
                <a:ea typeface="Malgun Gothic"/>
                <a:cs typeface="Malgun Gothic"/>
              </a:rPr>
              <a:t>공통 팝업에 태그 인자를 전달해 화면 재사용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638B3F1-964F-45DA-B72C-8CB77F4EC937}"/>
              </a:ext>
            </a:extLst>
          </p:cNvPr>
          <p:cNvSpPr>
            <a:spLocks noGrp="1"/>
          </p:cNvSpPr>
          <p:nvPr/>
        </p:nvSpPr>
        <p:spPr>
          <a:xfrm>
            <a:off x="11334750" y="6448425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0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0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0344B52-326C-4BCB-BF5F-EEB4C39872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19125" y="2080022"/>
            <a:ext cx="6286500" cy="3536156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F0B2612F-D8B4-495D-8A55-0B433C2FE001}"/>
              </a:ext>
            </a:extLst>
          </p:cNvPr>
          <p:cNvSpPr>
            <a:spLocks noGrp="1"/>
          </p:cNvSpPr>
          <p:nvPr/>
        </p:nvSpPr>
        <p:spPr>
          <a:xfrm>
            <a:off x="7477125" y="1952625"/>
            <a:ext cx="4048125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1">
                <a:solidFill>
                  <a:srgbClr val="1D70B8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2100" b="1">
                <a:solidFill>
                  <a:srgbClr val="1D70B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D70B8"/>
                </a:solidFill>
                <a:latin typeface="Malgun Gothic"/>
                <a:ea typeface="Malgun Gothic"/>
                <a:cs typeface="Malgun Gothic"/>
              </a:rPr>
              <a:t>화면 구성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062DC99-C502-46FF-8259-6609A4D6874C}"/>
              </a:ext>
            </a:extLst>
          </p:cNvPr>
          <p:cNvSpPr>
            <a:spLocks noGrp="1"/>
          </p:cNvSpPr>
          <p:nvPr/>
        </p:nvSpPr>
        <p:spPr>
          <a:xfrm>
            <a:off x="7477125" y="2505075"/>
            <a:ext cx="4048125" cy="857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0B1D3A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725" b="0">
                <a:solidFill>
                  <a:srgbClr val="0B1D3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0B1D3A"/>
                </a:solidFill>
                <a:latin typeface="Malgun Gothic"/>
                <a:ea typeface="Malgun Gothic"/>
                <a:cs typeface="Malgun Gothic"/>
              </a:rPr>
              <a:t>메인 화면과 여러 페이지를 구성하고</a:t>
            </a:r>
          </a:p>
          <a:p>
            <a:pPr>
              <a:defRPr sz="1725" b="0">
                <a:solidFill>
                  <a:srgbClr val="0B1D3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0B1D3A"/>
                </a:solidFill>
                <a:latin typeface="Malgun Gothic"/>
                <a:ea typeface="Malgun Gothic"/>
                <a:cs typeface="Malgun Gothic"/>
              </a:rPr>
              <a:t>버튼이나 스크립트에서 호출합니다.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04EDCF1-8AAE-413F-94CD-7EE7D0412288}"/>
              </a:ext>
            </a:extLst>
          </p:cNvPr>
          <p:cNvSpPr>
            <a:spLocks noGrp="1"/>
          </p:cNvSpPr>
          <p:nvPr/>
        </p:nvSpPr>
        <p:spPr>
          <a:xfrm>
            <a:off x="7477125" y="3829050"/>
            <a:ext cx="4048125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1">
                <a:solidFill>
                  <a:srgbClr val="1D70B8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2100" b="1">
                <a:solidFill>
                  <a:srgbClr val="1D70B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D70B8"/>
                </a:solidFill>
                <a:latin typeface="Malgun Gothic"/>
                <a:ea typeface="Malgun Gothic"/>
                <a:cs typeface="Malgun Gothic"/>
              </a:rPr>
              <a:t>팝업 위치와 인자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DF832B3-F44A-4074-940B-4C5CD31D28F8}"/>
              </a:ext>
            </a:extLst>
          </p:cNvPr>
          <p:cNvSpPr>
            <a:spLocks noGrp="1"/>
          </p:cNvSpPr>
          <p:nvPr/>
        </p:nvSpPr>
        <p:spPr>
          <a:xfrm>
            <a:off x="7477125" y="4410075"/>
            <a:ext cx="4095750" cy="1428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0B1D3A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650" b="0">
                <a:solidFill>
                  <a:srgbClr val="0B1D3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0B1D3A"/>
                </a:solidFill>
                <a:latin typeface="Malgun Gothic"/>
                <a:ea typeface="Malgun Gothic"/>
                <a:cs typeface="Malgun Gothic"/>
              </a:rPr>
              <a:t>9개 기준 위치, X·Y 좌표, 마우스 위치</a:t>
            </a:r>
          </a:p>
          <a:p>
            <a:pPr>
              <a:defRPr sz="1650" b="0">
                <a:solidFill>
                  <a:srgbClr val="0B1D3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0B1D3A"/>
                </a:solidFill>
                <a:latin typeface="Malgun Gothic"/>
                <a:ea typeface="Malgun Gothic"/>
                <a:cs typeface="Malgun Gothic"/>
              </a:rPr>
              <a:t>태그 인자로 설비별 값과 동작 연결</a:t>
            </a:r>
          </a:p>
          <a:p>
            <a:pPr>
              <a:defRPr sz="1650" b="0">
                <a:solidFill>
                  <a:srgbClr val="0B1D3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0B1D3A"/>
                </a:solidFill>
                <a:latin typeface="Malgun Gothic"/>
                <a:ea typeface="Malgun Gothic"/>
                <a:cs typeface="Malgun Gothic"/>
              </a:rPr>
              <a:t>동일 팝업을 여러 설비에 재사용</a:t>
            </a:r>
          </a:p>
        </p:txBody>
      </p:sp>
    </p:spTree>
    <p:extLst>
      <p:ext uri="{BB962C8B-B14F-4D97-AF65-F5344CB8AC3E}">
        <p14:creationId xmlns:p14="http://schemas.microsoft.com/office/powerpoint/2010/main" val="16657948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E887310E-2C55-473F-8FD7-7AA766E4C06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65301ECE-3C59-47E7-81BA-679B813CA7A5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0858500" cy="5905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700" b="1">
                <a:solidFill>
                  <a:srgbClr val="0B1D3A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2700" b="1">
                <a:solidFill>
                  <a:srgbClr val="0B1D3A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0B1D3A"/>
                </a:solidFill>
                <a:latin typeface="Malgun Gothic"/>
                <a:ea typeface="Malgun Gothic"/>
                <a:cs typeface="Malgun Gothic"/>
              </a:rPr>
              <a:t>C# 문법 기반 스크립트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9436405-9483-4CC7-B892-1B1F7F7B1A92}"/>
              </a:ext>
            </a:extLst>
          </p:cNvPr>
          <p:cNvSpPr>
            <a:spLocks noGrp="1"/>
          </p:cNvSpPr>
          <p:nvPr/>
        </p:nvSpPr>
        <p:spPr>
          <a:xfrm>
            <a:off x="590550" y="1066800"/>
            <a:ext cx="10477500" cy="3619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00" b="0">
                <a:solidFill>
                  <a:srgbClr val="1D70B8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500" b="0">
                <a:solidFill>
                  <a:srgbClr val="1D70B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D70B8"/>
                </a:solidFill>
                <a:latin typeface="Malgun Gothic"/>
                <a:ea typeface="Malgun Gothic"/>
                <a:cs typeface="Malgun Gothic"/>
              </a:rPr>
              <a:t>객체·페이지 이벤트와 글로벌 타이머로 동작 확장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31CDDA9-C987-4E24-B0BE-5EBC6838261B}"/>
              </a:ext>
            </a:extLst>
          </p:cNvPr>
          <p:cNvSpPr>
            <a:spLocks noGrp="1"/>
          </p:cNvSpPr>
          <p:nvPr/>
        </p:nvSpPr>
        <p:spPr>
          <a:xfrm>
            <a:off x="11334750" y="6448425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0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0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A84F36E-42E4-40F5-8133-FCF37F2335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591268" y="1581150"/>
            <a:ext cx="4581590" cy="4810125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BCDBEC01-9189-4C54-9302-9EF1BEDF640E}"/>
              </a:ext>
            </a:extLst>
          </p:cNvPr>
          <p:cNvSpPr>
            <a:spLocks noGrp="1"/>
          </p:cNvSpPr>
          <p:nvPr/>
        </p:nvSpPr>
        <p:spPr>
          <a:xfrm>
            <a:off x="619125" y="1981200"/>
            <a:ext cx="523875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1">
                <a:solidFill>
                  <a:srgbClr val="1D70B8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950" b="1">
                <a:solidFill>
                  <a:srgbClr val="1D70B8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D70B8"/>
                </a:solidFill>
                <a:latin typeface="Malgun Gothic"/>
                <a:ea typeface="Malgun Gothic"/>
                <a:cs typeface="Malgun Gothic"/>
              </a:rPr>
              <a:t>JView API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B44876D-4655-470A-8EEA-5C4F2E0A7DC0}"/>
              </a:ext>
            </a:extLst>
          </p:cNvPr>
          <p:cNvSpPr>
            <a:spLocks noGrp="1"/>
          </p:cNvSpPr>
          <p:nvPr/>
        </p:nvSpPr>
        <p:spPr>
          <a:xfrm>
            <a:off x="619125" y="2428875"/>
            <a:ext cx="5238750" cy="857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6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객체 속성 변경, 페이지·팝업 호출,</a:t>
            </a:r>
          </a:p>
          <a:p>
            <a:pPr>
              <a:defRPr sz="16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태그 읽기·쓰기와 로그 출력을 제공합니다.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021CAA9-A657-43B3-8F73-224DE06EA844}"/>
              </a:ext>
            </a:extLst>
          </p:cNvPr>
          <p:cNvSpPr>
            <a:spLocks noGrp="1"/>
          </p:cNvSpPr>
          <p:nvPr/>
        </p:nvSpPr>
        <p:spPr>
          <a:xfrm>
            <a:off x="619125" y="3857625"/>
            <a:ext cx="523875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1">
                <a:solidFill>
                  <a:srgbClr val="1D70B8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950" b="1">
                <a:solidFill>
                  <a:srgbClr val="1D70B8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D70B8"/>
                </a:solidFill>
                <a:latin typeface="Malgun Gothic"/>
                <a:ea typeface="Malgun Gothic"/>
                <a:cs typeface="Malgun Gothic"/>
              </a:rPr>
              <a:t>편집과 실행 관리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78264DC-4950-4D4B-ACC8-754004C81A8C}"/>
              </a:ext>
            </a:extLst>
          </p:cNvPr>
          <p:cNvSpPr>
            <a:spLocks noGrp="1"/>
          </p:cNvSpPr>
          <p:nvPr/>
        </p:nvSpPr>
        <p:spPr>
          <a:xfrm>
            <a:off x="619125" y="4305300"/>
            <a:ext cx="5238750" cy="857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6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자동완성, 예제 삽입, 오류 표시를 지원하고</a:t>
            </a:r>
          </a:p>
          <a:p>
            <a:pPr>
              <a:defRPr sz="16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이벤트와 타이머의 실행 제한을 설정합니다.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010C30B-B6B4-45B7-BB50-1B244ECB4FCE}"/>
              </a:ext>
            </a:extLst>
          </p:cNvPr>
          <p:cNvSpPr>
            <a:spLocks noGrp="1"/>
          </p:cNvSpPr>
          <p:nvPr/>
        </p:nvSpPr>
        <p:spPr>
          <a:xfrm>
            <a:off x="619125" y="5876925"/>
            <a:ext cx="552450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3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지원하는 C# 구문과 JView API 범위에서 실행</a:t>
            </a:r>
          </a:p>
        </p:txBody>
      </p:sp>
    </p:spTree>
    <p:extLst>
      <p:ext uri="{BB962C8B-B14F-4D97-AF65-F5344CB8AC3E}">
        <p14:creationId xmlns:p14="http://schemas.microsoft.com/office/powerpoint/2010/main" val="2451599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DCC954C3-FB57-4D39-9E49-C0508DB2CF6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543FF0B4-2FD8-4EAA-B9F1-B45FB269F5A7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0858500" cy="5905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700" b="1">
                <a:solidFill>
                  <a:srgbClr val="0B1D3A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2700" b="1">
                <a:solidFill>
                  <a:srgbClr val="0B1D3A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0B1D3A"/>
                </a:solidFill>
                <a:latin typeface="Malgun Gothic"/>
                <a:ea typeface="Malgun Gothic"/>
                <a:cs typeface="Malgun Gothic"/>
              </a:rPr>
              <a:t>설치와 운영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5A16DBC-5F4F-4C9C-ABB8-4A18D67DF636}"/>
              </a:ext>
            </a:extLst>
          </p:cNvPr>
          <p:cNvSpPr>
            <a:spLocks noGrp="1"/>
          </p:cNvSpPr>
          <p:nvPr/>
        </p:nvSpPr>
        <p:spPr>
          <a:xfrm>
            <a:off x="590550" y="1066800"/>
            <a:ext cx="10477500" cy="3619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00" b="0">
                <a:solidFill>
                  <a:srgbClr val="1D70B8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500" b="0">
                <a:solidFill>
                  <a:srgbClr val="1D70B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D70B8"/>
                </a:solidFill>
                <a:latin typeface="Malgun Gothic"/>
                <a:ea typeface="Malgun Gothic"/>
                <a:cs typeface="Malgun Gothic"/>
              </a:rPr>
              <a:t>Windows 서버 설치 후 브라우저로 접속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C10946B-99E6-4C9D-A10D-348960DCEBBD}"/>
              </a:ext>
            </a:extLst>
          </p:cNvPr>
          <p:cNvSpPr>
            <a:spLocks noGrp="1"/>
          </p:cNvSpPr>
          <p:nvPr/>
        </p:nvSpPr>
        <p:spPr>
          <a:xfrm>
            <a:off x="11334750" y="6448425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0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0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0D65FFB-CC52-4E70-8B49-AD0CEF2C0EC1}"/>
              </a:ext>
            </a:extLst>
          </p:cNvPr>
          <p:cNvSpPr>
            <a:spLocks noGrp="1"/>
          </p:cNvSpPr>
          <p:nvPr/>
        </p:nvSpPr>
        <p:spPr>
          <a:xfrm>
            <a:off x="619125" y="1905000"/>
            <a:ext cx="51435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1">
                <a:solidFill>
                  <a:srgbClr val="1D70B8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950" b="1">
                <a:solidFill>
                  <a:srgbClr val="1D70B8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D70B8"/>
                </a:solidFill>
                <a:latin typeface="Malgun Gothic"/>
                <a:ea typeface="Malgun Gothic"/>
                <a:cs typeface="Malgun Gothic"/>
              </a:rPr>
              <a:t>설치와 접속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CDE66B2-0467-4360-9525-32EE500B364B}"/>
              </a:ext>
            </a:extLst>
          </p:cNvPr>
          <p:cNvSpPr>
            <a:spLocks noGrp="1"/>
          </p:cNvSpPr>
          <p:nvPr/>
        </p:nvSpPr>
        <p:spPr>
          <a:xfrm>
            <a:off x="619125" y="2352675"/>
            <a:ext cx="5143500" cy="857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6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설치파일이 JView 서비스를 등록하고</a:t>
            </a:r>
          </a:p>
          <a:p>
            <a:pPr>
              <a:defRPr sz="16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바탕화면에 Designer 바로가기를 만듭니다.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5C785B1-2011-4C91-84EC-930E572A9F06}"/>
              </a:ext>
            </a:extLst>
          </p:cNvPr>
          <p:cNvSpPr>
            <a:spLocks noGrp="1"/>
          </p:cNvSpPr>
          <p:nvPr/>
        </p:nvSpPr>
        <p:spPr>
          <a:xfrm>
            <a:off x="619125" y="3810000"/>
            <a:ext cx="51435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1">
                <a:solidFill>
                  <a:srgbClr val="1D70B8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950" b="1">
                <a:solidFill>
                  <a:srgbClr val="1D70B8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D70B8"/>
                </a:solidFill>
                <a:latin typeface="Malgun Gothic"/>
                <a:ea typeface="Malgun Gothic"/>
                <a:cs typeface="Malgun Gothic"/>
              </a:rPr>
              <a:t>저장과 게시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3F83F5B-CC30-4CA6-8843-150DB83821CD}"/>
              </a:ext>
            </a:extLst>
          </p:cNvPr>
          <p:cNvSpPr>
            <a:spLocks noGrp="1"/>
          </p:cNvSpPr>
          <p:nvPr/>
        </p:nvSpPr>
        <p:spPr>
          <a:xfrm>
            <a:off x="619125" y="4257675"/>
            <a:ext cx="5143500" cy="857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6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편집본을 저장한 뒤 운영 화면으로 게시합니다.</a:t>
            </a:r>
          </a:p>
          <a:p>
            <a:pPr>
              <a:defRPr sz="16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서버 주소를 포함한 HTML 바로가기를 배포합니다.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9241B23-423F-4AE1-9B81-5D48EA44E189}"/>
              </a:ext>
            </a:extLst>
          </p:cNvPr>
          <p:cNvSpPr>
            <a:spLocks noGrp="1"/>
          </p:cNvSpPr>
          <p:nvPr/>
        </p:nvSpPr>
        <p:spPr>
          <a:xfrm>
            <a:off x="6477000" y="1905000"/>
            <a:ext cx="5095875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1">
                <a:solidFill>
                  <a:srgbClr val="1D70B8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950" b="1">
                <a:solidFill>
                  <a:srgbClr val="1D70B8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D70B8"/>
                </a:solidFill>
                <a:latin typeface="Malgun Gothic"/>
                <a:ea typeface="Malgun Gothic"/>
                <a:cs typeface="Malgun Gothic"/>
              </a:rPr>
              <a:t>인증과 연결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EB37605-48DA-4ECC-AD93-224DDC7BD9E7}"/>
              </a:ext>
            </a:extLst>
          </p:cNvPr>
          <p:cNvSpPr>
            <a:spLocks noGrp="1"/>
          </p:cNvSpPr>
          <p:nvPr/>
        </p:nvSpPr>
        <p:spPr>
          <a:xfrm>
            <a:off x="6477000" y="2352675"/>
            <a:ext cx="5095875" cy="857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6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저장된 코어 계정으로 자동 조회 연결을 구성하고</a:t>
            </a:r>
          </a:p>
          <a:p>
            <a:pPr>
              <a:defRPr sz="16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태그 쓰기는 조작 로그인과 권한을 확인합니다.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C3F8985-F22F-4F2B-B75B-52A9B53315A7}"/>
              </a:ext>
            </a:extLst>
          </p:cNvPr>
          <p:cNvSpPr>
            <a:spLocks noGrp="1"/>
          </p:cNvSpPr>
          <p:nvPr/>
        </p:nvSpPr>
        <p:spPr>
          <a:xfrm>
            <a:off x="6477000" y="3810000"/>
            <a:ext cx="5095875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1">
                <a:solidFill>
                  <a:srgbClr val="1D70B8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950" b="1">
                <a:solidFill>
                  <a:srgbClr val="1D70B8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D70B8"/>
                </a:solidFill>
                <a:latin typeface="Malgun Gothic"/>
                <a:ea typeface="Malgun Gothic"/>
                <a:cs typeface="Malgun Gothic"/>
              </a:rPr>
              <a:t>운영 환경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C123CCA-40E8-41BD-9B96-5AE3E1BC0E10}"/>
              </a:ext>
            </a:extLst>
          </p:cNvPr>
          <p:cNvSpPr>
            <a:spLocks noGrp="1"/>
          </p:cNvSpPr>
          <p:nvPr/>
        </p:nvSpPr>
        <p:spPr>
          <a:xfrm>
            <a:off x="6477000" y="4257675"/>
            <a:ext cx="5095875" cy="857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6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Windows x64 및 .NET Framework 4.8 기반</a:t>
            </a:r>
          </a:p>
          <a:p>
            <a:pPr>
              <a:defRPr sz="16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네트워크·포트와 JCore 라이선스 설정이 필요합니다.</a:t>
            </a:r>
          </a:p>
        </p:txBody>
      </p:sp>
    </p:spTree>
    <p:extLst>
      <p:ext uri="{BB962C8B-B14F-4D97-AF65-F5344CB8AC3E}">
        <p14:creationId xmlns:p14="http://schemas.microsoft.com/office/powerpoint/2010/main" val="17009060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306DC928-2BBA-401C-B7B2-FDB8F7E50E7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DB9689CC-9AED-41A1-8468-F4E957134323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0858500" cy="5905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700" b="1">
                <a:solidFill>
                  <a:srgbClr val="0B1D3A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2700" b="1">
                <a:solidFill>
                  <a:srgbClr val="0B1D3A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0B1D3A"/>
                </a:solidFill>
                <a:latin typeface="Malgun Gothic"/>
                <a:ea typeface="Malgun Gothic"/>
                <a:cs typeface="Malgun Gothic"/>
              </a:rPr>
              <a:t>적용 분야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E2A513F-5ACA-4025-93E9-1BB8AF756FEA}"/>
              </a:ext>
            </a:extLst>
          </p:cNvPr>
          <p:cNvSpPr>
            <a:spLocks noGrp="1"/>
          </p:cNvSpPr>
          <p:nvPr/>
        </p:nvSpPr>
        <p:spPr>
          <a:xfrm>
            <a:off x="590550" y="1066800"/>
            <a:ext cx="10477500" cy="3619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00" b="0">
                <a:solidFill>
                  <a:srgbClr val="1D70B8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500" b="0">
                <a:solidFill>
                  <a:srgbClr val="1D70B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1D70B8"/>
                </a:solidFill>
                <a:latin typeface="Malgun Gothic"/>
                <a:ea typeface="Malgun Gothic"/>
                <a:cs typeface="Malgun Gothic"/>
              </a:rPr>
              <a:t>설비와 공정에 맞춰 구성하는 감시·조작 화면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1150136-8A8C-476D-B6BF-F34E1A67B117}"/>
              </a:ext>
            </a:extLst>
          </p:cNvPr>
          <p:cNvSpPr>
            <a:spLocks noGrp="1"/>
          </p:cNvSpPr>
          <p:nvPr/>
        </p:nvSpPr>
        <p:spPr>
          <a:xfrm>
            <a:off x="11334750" y="6448425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0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0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72F80AB-53DE-43A6-80B6-88F7657FCE5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292" b="7292"/>
          <a:stretch>
            <a:fillRect/>
          </a:stretch>
        </p:blipFill>
        <p:spPr>
          <a:xfrm>
            <a:off x="7143750" y="1581150"/>
            <a:ext cx="4476750" cy="447675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41E99162-6402-4834-A845-DBFEE06D8FAF}"/>
              </a:ext>
            </a:extLst>
          </p:cNvPr>
          <p:cNvSpPr>
            <a:spLocks noGrp="1"/>
          </p:cNvSpPr>
          <p:nvPr/>
        </p:nvSpPr>
        <p:spPr>
          <a:xfrm>
            <a:off x="619125" y="1781175"/>
            <a:ext cx="59055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1">
                <a:solidFill>
                  <a:srgbClr val="1D70B8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950" b="1">
                <a:solidFill>
                  <a:srgbClr val="1D70B8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D70B8"/>
                </a:solidFill>
                <a:latin typeface="Malgun Gothic"/>
                <a:ea typeface="Malgun Gothic"/>
                <a:cs typeface="Malgun Gothic"/>
              </a:rPr>
              <a:t>제조 설비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674E1C2-4564-4D9A-AB89-A604E12547DD}"/>
              </a:ext>
            </a:extLst>
          </p:cNvPr>
          <p:cNvSpPr>
            <a:spLocks noGrp="1"/>
          </p:cNvSpPr>
          <p:nvPr/>
        </p:nvSpPr>
        <p:spPr>
          <a:xfrm>
            <a:off x="619125" y="2228850"/>
            <a:ext cx="5905500" cy="857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6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장비 운전 상태, 공정 값과 이상 알람을</a:t>
            </a:r>
          </a:p>
          <a:p>
            <a:pPr>
              <a:defRPr sz="16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설비별 화면에서 확인합니다.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ABC96B2-48D3-48D2-AA90-FF1A9D5BC2CA}"/>
              </a:ext>
            </a:extLst>
          </p:cNvPr>
          <p:cNvSpPr>
            <a:spLocks noGrp="1"/>
          </p:cNvSpPr>
          <p:nvPr/>
        </p:nvSpPr>
        <p:spPr>
          <a:xfrm>
            <a:off x="619125" y="3276600"/>
            <a:ext cx="59055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1">
                <a:solidFill>
                  <a:srgbClr val="1D70B8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950" b="1">
                <a:solidFill>
                  <a:srgbClr val="1D70B8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D70B8"/>
                </a:solidFill>
                <a:latin typeface="Malgun Gothic"/>
                <a:ea typeface="Malgun Gothic"/>
                <a:cs typeface="Malgun Gothic"/>
              </a:rPr>
              <a:t>수처리·유틸리티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B3D19DA-63B5-4DBE-B9D0-3D6530552BEE}"/>
              </a:ext>
            </a:extLst>
          </p:cNvPr>
          <p:cNvSpPr>
            <a:spLocks noGrp="1"/>
          </p:cNvSpPr>
          <p:nvPr/>
        </p:nvSpPr>
        <p:spPr>
          <a:xfrm>
            <a:off x="619125" y="3724275"/>
            <a:ext cx="5905500" cy="857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6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탱크 수위, 펌프와 밸브 상태를 표시하고</a:t>
            </a:r>
          </a:p>
          <a:p>
            <a:pPr>
              <a:defRPr sz="16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트렌드와 알람 이력으로 변화를 살펴봅니다.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90A0F30-8A9D-4008-9B8D-897D771379D5}"/>
              </a:ext>
            </a:extLst>
          </p:cNvPr>
          <p:cNvSpPr>
            <a:spLocks noGrp="1"/>
          </p:cNvSpPr>
          <p:nvPr/>
        </p:nvSpPr>
        <p:spPr>
          <a:xfrm>
            <a:off x="619125" y="4772025"/>
            <a:ext cx="59055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1">
                <a:solidFill>
                  <a:srgbClr val="1D70B8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950" b="1">
                <a:solidFill>
                  <a:srgbClr val="1D70B8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D70B8"/>
                </a:solidFill>
                <a:latin typeface="Malgun Gothic"/>
                <a:ea typeface="Malgun Gothic"/>
                <a:cs typeface="Malgun Gothic"/>
              </a:rPr>
              <a:t>현장 맞춤형 HMI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441392C-8E44-4ED6-AEA6-8C02A0F6C4D3}"/>
              </a:ext>
            </a:extLst>
          </p:cNvPr>
          <p:cNvSpPr>
            <a:spLocks noGrp="1"/>
          </p:cNvSpPr>
          <p:nvPr/>
        </p:nvSpPr>
        <p:spPr>
          <a:xfrm>
            <a:off x="619125" y="5219700"/>
            <a:ext cx="5905500" cy="857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6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반복 설비를 공통 심볼·팝업으로 구성하고</a:t>
            </a:r>
          </a:p>
          <a:p>
            <a:pPr>
              <a:defRPr sz="16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스크립트로 필요한 화면 동작을 추가합니다.</a:t>
            </a:r>
          </a:p>
        </p:txBody>
      </p:sp>
    </p:spTree>
    <p:extLst>
      <p:ext uri="{BB962C8B-B14F-4D97-AF65-F5344CB8AC3E}">
        <p14:creationId xmlns:p14="http://schemas.microsoft.com/office/powerpoint/2010/main" val="14712694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A758C525-E5E5-429C-9F49-9DF2ECD9F22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A7CC0A97-FE0D-4291-B873-02D8030B097C}"/>
              </a:ext>
            </a:extLst>
          </p:cNvPr>
          <p:cNvSpPr>
            <a:spLocks noGrp="1"/>
          </p:cNvSpPr>
          <p:nvPr/>
        </p:nvSpPr>
        <p:spPr>
          <a:xfrm>
            <a:off x="11334750" y="6448425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050" b="0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050" b="0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F5BE1DB-44ED-4B97-B4F7-87A895CD23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71500" y="590550"/>
            <a:ext cx="1857375" cy="123825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FBF4929E-4AFC-45DC-9B86-FA0F2774005F}"/>
              </a:ext>
            </a:extLst>
          </p:cNvPr>
          <p:cNvSpPr>
            <a:spLocks noGrp="1"/>
          </p:cNvSpPr>
          <p:nvPr/>
        </p:nvSpPr>
        <p:spPr>
          <a:xfrm>
            <a:off x="609600" y="2438400"/>
            <a:ext cx="106680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57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57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57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JView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1EAE7A0-1C01-45CE-892E-9FC03357932F}"/>
              </a:ext>
            </a:extLst>
          </p:cNvPr>
          <p:cNvSpPr>
            <a:spLocks noGrp="1"/>
          </p:cNvSpPr>
          <p:nvPr/>
        </p:nvSpPr>
        <p:spPr>
          <a:xfrm>
            <a:off x="638175" y="3600450"/>
            <a:ext cx="1057275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38BDF8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3150" b="1">
                <a:solidFill>
                  <a:srgbClr val="38BDF8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38BDF8"/>
                </a:solidFill>
                <a:latin typeface="Malgun Gothic"/>
                <a:ea typeface="Malgun Gothic"/>
                <a:cs typeface="Malgun Gothic"/>
              </a:rPr>
              <a:t>현장 데이터를 운영 화면으로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968E0EE-3189-4E9F-9F65-94406441C5BB}"/>
              </a:ext>
            </a:extLst>
          </p:cNvPr>
          <p:cNvSpPr>
            <a:spLocks noGrp="1"/>
          </p:cNvSpPr>
          <p:nvPr/>
        </p:nvSpPr>
        <p:spPr>
          <a:xfrm>
            <a:off x="638175" y="4629150"/>
            <a:ext cx="10572750" cy="4953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CBD5E1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2100" b="0">
                <a:solidFill>
                  <a:srgbClr val="CBD5E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CBD5E1"/>
                </a:solidFill>
                <a:latin typeface="Malgun Gothic"/>
                <a:ea typeface="Malgun Gothic"/>
                <a:cs typeface="Malgun Gothic"/>
              </a:rPr>
              <a:t>JCore 연동 기반 산업용 SCADA / HMI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2568D45-2728-4309-9BA9-DE4C04D3DE33}"/>
              </a:ext>
            </a:extLst>
          </p:cNvPr>
          <p:cNvSpPr>
            <a:spLocks noGrp="1"/>
          </p:cNvSpPr>
          <p:nvPr/>
        </p:nvSpPr>
        <p:spPr>
          <a:xfrm>
            <a:off x="638175" y="5867400"/>
            <a:ext cx="952500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defPPr>
          </a:lstStyle>
          <a:p>
            <a:pPr>
              <a:defRPr sz="1650" b="0">
                <a:solidFill>
                  <a:srgbClr val="94A3B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94A3B8"/>
                </a:solidFill>
                <a:latin typeface="Malgun Gothic"/>
                <a:ea typeface="Malgun Gothic"/>
                <a:cs typeface="Malgun Gothic"/>
              </a:rPr>
              <a:t>JAYON STUDIO</a:t>
            </a:r>
          </a:p>
        </p:txBody>
      </p:sp>
    </p:spTree>
    <p:extLst>
      <p:ext uri="{BB962C8B-B14F-4D97-AF65-F5344CB8AC3E}">
        <p14:creationId xmlns:p14="http://schemas.microsoft.com/office/powerpoint/2010/main" val="66289693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1827</Words>
  <Application>Microsoft Office PowerPoint</Application>
  <DocSecurity>0</DocSecurity>
  <PresentationFormat>와이드스크린</PresentationFormat>
  <Paragraphs>176</Paragraphs>
  <Slides>13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6" baseType="lpstr">
      <vt:lpstr>Malgun Gothic</vt:lpstr>
      <vt:lpstr>Aptos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BEAN</cp:lastModifiedBy>
  <cp:revision>1</cp:revision>
  <dcterms:created xsi:type="dcterms:W3CDTF">2026-10-13T17:41:14Z</dcterms:created>
  <dcterms:modified xsi:type="dcterms:W3CDTF">2026-10-13T17:43:37Z</dcterms:modified>
</cp:coreProperties>
</file>