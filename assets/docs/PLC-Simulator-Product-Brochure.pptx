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4161007d8848ef" /><Relationship Type="http://schemas.openxmlformats.org/officeDocument/2006/relationships/extended-properties" Target="/docProps/app.xml" Id="R3ab29a8d271a4343" /><Relationship Type="http://schemas.openxmlformats.org/officeDocument/2006/relationships/officeDocument" Target="/ppt/presentation.xml" Id="R90ba0ddb3ae949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9dfbc8dcea4ef3"/>
  </p:sldMasterIdLst>
  <p:notesMasterIdLst>
    <p:notesMasterId xmlns:r="http://schemas.openxmlformats.org/officeDocument/2006/relationships" r:id="Rcc97a4c82b2d4fef"/>
  </p:notesMasterIdLst>
  <p:sldIdLst>
    <p:sldId xmlns:r="http://schemas.openxmlformats.org/officeDocument/2006/relationships" id="256" r:id="Ra5d20726b77a418d"/>
    <p:sldId xmlns:r="http://schemas.openxmlformats.org/officeDocument/2006/relationships" id="257" r:id="R07755319632d4f20"/>
    <p:sldId xmlns:r="http://schemas.openxmlformats.org/officeDocument/2006/relationships" id="258" r:id="R86f01d053360414f"/>
    <p:sldId xmlns:r="http://schemas.openxmlformats.org/officeDocument/2006/relationships" id="259" r:id="R06b99d41b971419f"/>
    <p:sldId xmlns:r="http://schemas.openxmlformats.org/officeDocument/2006/relationships" id="260" r:id="R5c626c9e08a0439d"/>
    <p:sldId xmlns:r="http://schemas.openxmlformats.org/officeDocument/2006/relationships" id="261" r:id="R7684ac6444ac48da"/>
    <p:sldId xmlns:r="http://schemas.openxmlformats.org/officeDocument/2006/relationships" id="262" r:id="Re3310173eebd48fd"/>
    <p:sldId xmlns:r="http://schemas.openxmlformats.org/officeDocument/2006/relationships" id="263" r:id="R287507659f11455a"/>
    <p:sldId xmlns:r="http://schemas.openxmlformats.org/officeDocument/2006/relationships" id="264" r:id="Rd4a2b2a81e3249be"/>
    <p:sldId xmlns:r="http://schemas.openxmlformats.org/officeDocument/2006/relationships" id="265" r:id="R4aaeb9b750c046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a6b7a201b14ad0" /><Relationship Type="http://schemas.openxmlformats.org/officeDocument/2006/relationships/slideMaster" Target="/ppt/slideMasters/slideMaster1.xml" Id="Rfe9dfbc8dcea4ef3" /><Relationship Type="http://schemas.openxmlformats.org/officeDocument/2006/relationships/notesMaster" Target="/ppt/notesMasters/notesMaster1.xml" Id="Rcc97a4c82b2d4fef" /><Relationship Type="http://schemas.openxmlformats.org/officeDocument/2006/relationships/presProps" Target="/ppt/presProps.xml" Id="R23e0bfd54e834bf2" /><Relationship Type="http://schemas.openxmlformats.org/officeDocument/2006/relationships/viewProps" Target="/ppt/viewProps.xml" Id="R0a90f76fc69c4800" /><Relationship Type="http://schemas.openxmlformats.org/officeDocument/2006/relationships/tableStyles" Target="/ppt/tableStyles.xml" Id="R76678e6f2afb4f15" /><Relationship Type="http://schemas.openxmlformats.org/officeDocument/2006/relationships/slide" Target="/ppt/slides/slide1.xml" Id="Ra5d20726b77a418d" /><Relationship Type="http://schemas.openxmlformats.org/officeDocument/2006/relationships/slide" Target="/ppt/slides/slide2.xml" Id="R07755319632d4f20" /><Relationship Type="http://schemas.openxmlformats.org/officeDocument/2006/relationships/slide" Target="/ppt/slides/slide3.xml" Id="R86f01d053360414f" /><Relationship Type="http://schemas.openxmlformats.org/officeDocument/2006/relationships/slide" Target="/ppt/slides/slide4.xml" Id="R06b99d41b971419f" /><Relationship Type="http://schemas.openxmlformats.org/officeDocument/2006/relationships/slide" Target="/ppt/slides/slide5.xml" Id="R5c626c9e08a0439d" /><Relationship Type="http://schemas.openxmlformats.org/officeDocument/2006/relationships/slide" Target="/ppt/slides/slide6.xml" Id="R7684ac6444ac48da" /><Relationship Type="http://schemas.openxmlformats.org/officeDocument/2006/relationships/slide" Target="/ppt/slides/slide7.xml" Id="Re3310173eebd48fd" /><Relationship Type="http://schemas.openxmlformats.org/officeDocument/2006/relationships/slide" Target="/ppt/slides/slide8.xml" Id="R287507659f11455a" /><Relationship Type="http://schemas.openxmlformats.org/officeDocument/2006/relationships/slide" Target="/ppt/slides/slide9.xml" Id="Rd4a2b2a81e3249be" /><Relationship Type="http://schemas.openxmlformats.org/officeDocument/2006/relationships/slide" Target="/ppt/slides/slide10.xml" Id="R4aaeb9b750c046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2f19281a5f42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c4b67f846e4876" /><Relationship Type="http://schemas.openxmlformats.org/officeDocument/2006/relationships/notesMaster" Target="/ppt/notesMasters/notesMaster1.xml" Id="Rfe1cf01199064b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72b2846a04839" /><Relationship Type="http://schemas.openxmlformats.org/officeDocument/2006/relationships/notesMaster" Target="/ppt/notesMasters/notesMaster1.xml" Id="R5b17964637e241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b2e8c3ce1e4d29" /><Relationship Type="http://schemas.openxmlformats.org/officeDocument/2006/relationships/notesMaster" Target="/ppt/notesMasters/notesMaster1.xml" Id="Rdf5218cab890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4afb660ee743e9" /><Relationship Type="http://schemas.openxmlformats.org/officeDocument/2006/relationships/notesMaster" Target="/ppt/notesMasters/notesMaster1.xml" Id="Re4dc46f3ba2344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8eae069bae4b7e" /><Relationship Type="http://schemas.openxmlformats.org/officeDocument/2006/relationships/notesMaster" Target="/ppt/notesMasters/notesMaster1.xml" Id="Rf853a0874a424f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1f0bdf6b0c4808" /><Relationship Type="http://schemas.openxmlformats.org/officeDocument/2006/relationships/notesMaster" Target="/ppt/notesMasters/notesMaster1.xml" Id="R0d8d5a1823c84c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e76e0f96ce4bd3" /><Relationship Type="http://schemas.openxmlformats.org/officeDocument/2006/relationships/notesMaster" Target="/ppt/notesMasters/notesMaster1.xml" Id="R9254d3341b7048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1b433c8b7d43c4" /><Relationship Type="http://schemas.openxmlformats.org/officeDocument/2006/relationships/notesMaster" Target="/ppt/notesMasters/notesMaster1.xml" Id="Redfcdfd82754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ba4560d4864b56" /><Relationship Type="http://schemas.openxmlformats.org/officeDocument/2006/relationships/notesMaster" Target="/ppt/notesMasters/notesMaster1.xml" Id="Rffe9704a7d5646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9267a814544c08" /><Relationship Type="http://schemas.openxmlformats.org/officeDocument/2006/relationships/notesMaster" Target="/ppt/notesMasters/notesMaster1.xml" Id="Re8e7f83d097c40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소개. 통신 프로그램과 PLC Driver 개발·테스트 목적. 실제 PLC CPU 명령 실행이나 프로그램 다운로드를 모사하지 않습니다. 근거: README.md 프로젝트 개요 및 프로토콜별 제한.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Form1.cs, Simulator.cs, Scripting.cs, Manual/USER_MANUAL.md. 화면의 PLC 이름과 값은 예시입니다. 여러 PLC에서 같은 IP/포트 조합은 중복 사용할 수 없습니다.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 지원 범위 표, Protocol별 제한, ControlLogix 섹션. Modbus DI/IR은 통신 읽기 전용. ControlLogix는 사용자 배열·중첩 UDT·Program 범위·Implicit I/O·로직 다운로드를 지원하지 않습니다.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Form1.Maps.cs, Simulation.cs, Manual/USER_MANUAL.md 맵 절. 맵은 주소형 PLC의 Simulation 규칙에서 사용합니다. ControlLogix의 태그/UDT와는 별도 기능입니다.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Tags.cs, ControlLogixSimulator.cs, Form1.Tags.cs 및 매뉴얼 ControlLogix 절. 정의 변경은 정지 중에만 허용합니다. 사용자 배열과 중첩 UDT는 현재 지원 범위 밖입니다.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Simulation.cs 및 Manual/USER_MANUAL.md 시뮬레이션 절. 주기는 실시간 제어용 타이머가 아니며 부하에 따라 지연될 수 있습니다. 화면의 범위/인터발은 예시이며 성능 측정 결과가 아닙니다.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Docs/SCRIPT_MODE.md, Scripting.cs, Form1.Script.cs. Roslyn으로 C#을 컴파일하고 별도 프로세스에서 실행합니다. OS 접근을 차단하는 보안 샌드박스는 아니며 신뢰하는 코드만 사용해야 합니다. OnStop은 로그/로컬 정리에 제한됩니다.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PlcSimulator.Core/Ladder.cs, LadderAddress.cs, PLCSimulator/LadderEditor*.cs, Form1.Ladder.cs. 127e9c3 codex/ladder-mode 기준. PLC별 내부 메모리 Local을 지원하며 C# 변환 없이 직접 평가합니다. 녹색 화면은 예시 설정으로 실제 LadderRuntime.Scan을 수행한 결과입니다.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기능에 근거한 활용 예시이며 특정 고객 적용 실적이나 성능 개선 수치를 의미하지 않습니다. 근거: README.md 프로젝트 목적 및 Manual/USER_MANUAL.md.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브랜드 로고와 배경을 유지했습니다. 연락처·가격·서비스 보장 수치는 제공된 자료에 없어 기재하지 않았습니다.</a:t>
            </a:r>
          </a:p>
          <a:p xmlns:a="http://schemas.openxmlformats.org/drawingml/2006/main">
            <a:r>
              <a:t>자료 기준: PLC Simulator 1.0.51, 소스 127e9c3, 2026-09-30. 화면은 제품 소개용 예시 데이터로 실제 WinForms 컨트롤을 렌더링했습니다. 제품 전체의 상용 클라이언트 호환성을 보증하는 자료가 아닙니다. 디자인 참조: 사용자 제공 JAYON 제품소개서.pptx.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69612aa8a49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2d31d3a9b43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fdffb3a9844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417585e1b4a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1fb6e5e9e46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88857a5f444e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d202bc40845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be67510734e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73ed2e4874ed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e849e6c6c49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5570d439749b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C6188B-6D0A-4DC5-B812-55F42B7EB2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0193F73-C4CD-4004-8874-D5A64926B6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03E32B-7A62-4B74-83AF-9B6F7EAE37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FBB014-11EC-48B2-8667-D4D0CD22D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095C9C-1674-4BE7-A157-9C6514C24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49C1A7-C0CA-4C53-B8D8-1A52248AD1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269184-A137-4ECF-AB6A-BD33476734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1A9A9F-78B0-4E56-BE52-44DD36ADEB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43F3FE-2113-4B21-B08B-4CF15FBD2F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F5E765-12F9-4CC9-BB87-C628201807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85FE73-DD38-4249-B79F-028F8B573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B718F2-25CA-4FAF-BFC5-A55E703EDD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13E31A-FFF6-49C6-AC57-E367B3AA5B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56A420-8CA1-454B-8A36-192A274D32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F393F9-1B5D-4AF5-BFBF-7B0573016E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3DF544-2FC3-4D74-ABDA-D686837FA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495001-4CF2-4988-B16F-99A908ED0E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ADB0EE-36BB-4397-BDA4-1AE0DCFA3E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2749DCC-E430-4B75-847E-1FA3F2C264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C19386F-42AE-4F70-8B7C-44A4160E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E2F384B-87A4-4E42-A0AD-F24D27D502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85FE8-FACE-451B-A1F2-22A36B3FAE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B5A0F3-014F-4E27-92EE-3804E00930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87381C2-1250-40A1-B3C7-D82407639DA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5B0FCCA-14F4-4B15-914E-F4C6D1083EC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9BD52D-88EA-495F-96D0-ED3455761E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743FEE2-CE87-4037-978C-1967B8CB6A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DEA0B1A-8AF7-4826-B943-24EBBD8FB4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7BF21DF-3FBC-4A3E-9DB6-50097E3601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343CA3-6B95-4373-B016-BA2256C7F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3723C2A-33A1-45F7-8AAE-A7FB632595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A6F4897-11E8-4EBE-958C-FE3050A48A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7D428F0-9520-4285-ABCC-F5814191B0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5414312-FEAC-4F44-84B0-33C9444A49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2517DF2-9FAF-4F18-842F-DAD2CBB80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D211ED4-A019-463E-AA72-DEB1BAB2E0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1B6B86-DEB5-45D6-92CA-3F8ACBD0B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DAA73B-AF6B-4594-B138-A09B17D9BF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325DF89-FE7E-438F-B927-AA1EBA3625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B4C086A-5999-44E9-961E-8F0C67616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63B0B5E-FE35-4571-934C-D77A7A36C0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235E8C-E616-4F1E-8FC0-3184451C09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3B9ED6-4098-4ABB-B34B-8E6008BAC4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FF8ED96-9173-41E0-9F96-B99E3344C4D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CDC378D-A9FC-4D21-9C08-5AA3EDFE04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10D1B3-E94B-419E-AE65-21A3F5E8F5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274022-56EE-4AC8-9F8A-DE0F4E6BC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FA2CD6-7F71-4819-9DD4-45E2DAED2A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817F8B-24CD-4B7E-898F-29C6BB2A7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DBC44-E980-48DA-80F0-F11118036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A51B9A-3007-4E67-BB79-76CBBC4E99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9E4821-A914-4B4B-9888-5C1273A4C9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D38E4B-23BF-46EF-8E75-27F2F681EF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F939FDD-50A5-4CE0-8794-023A1E716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D69FDF-5D14-4D14-BC06-18272913F5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A92EDE-C590-48E6-8312-7E48E24D3A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AF8050-9DD6-4426-BEAD-9997BE29DB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C63AC2-1FF2-4F3A-A312-E585D2D93F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1153af64b246d9" /><Relationship Type="http://schemas.openxmlformats.org/officeDocument/2006/relationships/slideLayout" Target="/ppt/slideLayouts/slideLayout1.xml" Id="R3fab75b5020b4c26" /><Relationship Type="http://schemas.openxmlformats.org/officeDocument/2006/relationships/slideLayout" Target="/ppt/slideLayouts/slideLayout2.xml" Id="Rba86ec9c156f4cf8" /><Relationship Type="http://schemas.openxmlformats.org/officeDocument/2006/relationships/slideLayout" Target="/ppt/slideLayouts/slideLayout3.xml" Id="R7a892353416345ef" /><Relationship Type="http://schemas.openxmlformats.org/officeDocument/2006/relationships/slideLayout" Target="/ppt/slideLayouts/slideLayout4.xml" Id="R59486c73c0604247" /><Relationship Type="http://schemas.openxmlformats.org/officeDocument/2006/relationships/slideLayout" Target="/ppt/slideLayouts/slideLayout5.xml" Id="R42cb936fa3f6481c" /><Relationship Type="http://schemas.openxmlformats.org/officeDocument/2006/relationships/slideLayout" Target="/ppt/slideLayouts/slideLayout6.xml" Id="R1a567dfbc4fc4d0a" /><Relationship Type="http://schemas.openxmlformats.org/officeDocument/2006/relationships/slideLayout" Target="/ppt/slideLayouts/slideLayout7.xml" Id="R23d7d8e5b4e9447f" /><Relationship Type="http://schemas.openxmlformats.org/officeDocument/2006/relationships/slideLayout" Target="/ppt/slideLayouts/slideLayout8.xml" Id="R07f65ec2c84c4c64" /><Relationship Type="http://schemas.openxmlformats.org/officeDocument/2006/relationships/slideLayout" Target="/ppt/slideLayouts/slideLayout9.xml" Id="R6a7c7121dc4a4fba" /><Relationship Type="http://schemas.openxmlformats.org/officeDocument/2006/relationships/slideLayout" Target="/ppt/slideLayouts/slideLayout10.xml" Id="R1b9e46dbc4144117" /><Relationship Type="http://schemas.openxmlformats.org/officeDocument/2006/relationships/slideLayout" Target="/ppt/slideLayouts/slideLayout11.xml" Id="R92d5e3f8eafd4b4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D7251C6-0A37-4D30-81B8-CA4C41114F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BB976E-B040-4433-BC3B-95AE091C42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D5E7FF-B475-469F-9DCA-B3BF12EE699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9/17/2026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11D886-9A28-4A8A-AE2A-FD1404C3C94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F0AEA3-88A2-4B5E-9726-FDD4ABA268E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ab75b5020b4c26"/>
    <p:sldLayoutId xmlns:r="http://schemas.openxmlformats.org/officeDocument/2006/relationships" id="2147483650" r:id="Rba86ec9c156f4cf8"/>
    <p:sldLayoutId xmlns:r="http://schemas.openxmlformats.org/officeDocument/2006/relationships" id="2147483651" r:id="R7a892353416345ef"/>
    <p:sldLayoutId xmlns:r="http://schemas.openxmlformats.org/officeDocument/2006/relationships" id="2147483652" r:id="R59486c73c0604247"/>
    <p:sldLayoutId xmlns:r="http://schemas.openxmlformats.org/officeDocument/2006/relationships" id="2147483653" r:id="R42cb936fa3f6481c"/>
    <p:sldLayoutId xmlns:r="http://schemas.openxmlformats.org/officeDocument/2006/relationships" id="2147483654" r:id="R1a567dfbc4fc4d0a"/>
    <p:sldLayoutId xmlns:r="http://schemas.openxmlformats.org/officeDocument/2006/relationships" id="2147483655" r:id="R23d7d8e5b4e9447f"/>
    <p:sldLayoutId xmlns:r="http://schemas.openxmlformats.org/officeDocument/2006/relationships" id="2147483656" r:id="R07f65ec2c84c4c64"/>
    <p:sldLayoutId xmlns:r="http://schemas.openxmlformats.org/officeDocument/2006/relationships" id="2147483657" r:id="R6a7c7121dc4a4fba"/>
    <p:sldLayoutId xmlns:r="http://schemas.openxmlformats.org/officeDocument/2006/relationships" id="2147483658" r:id="R1b9e46dbc4144117"/>
    <p:sldLayoutId xmlns:r="http://schemas.openxmlformats.org/officeDocument/2006/relationships" id="2147483659" r:id="R92d5e3f8eafd4b4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b827108ddb4334" /><Relationship Type="http://schemas.openxmlformats.org/officeDocument/2006/relationships/image" Target="/ppt/media/image.png" Id="Rc87268a542b54561" /><Relationship Type="http://schemas.openxmlformats.org/officeDocument/2006/relationships/image" Target="/ppt/media/image2.png" Id="R1a81fdfc43924bdc" /><Relationship Type="http://schemas.openxmlformats.org/officeDocument/2006/relationships/notesSlide" Target="/ppt/notesSlides/notesSlide1.xml" Id="R3d0d8e0f49ff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f0881d084a43cd" /><Relationship Type="http://schemas.openxmlformats.org/officeDocument/2006/relationships/image" Target="/ppt/media/image3.png" Id="R87d1fcff60284395" /><Relationship Type="http://schemas.openxmlformats.org/officeDocument/2006/relationships/image" Target="/ppt/media/image4.png" Id="R0a84f8eab9824880" /><Relationship Type="http://schemas.openxmlformats.org/officeDocument/2006/relationships/notesSlide" Target="/ppt/notesSlides/notesSlide2.xml" Id="R8111dfc9f11742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0da9d2333f4713" /><Relationship Type="http://schemas.openxmlformats.org/officeDocument/2006/relationships/image" Target="/ppt/media/image3.png" Id="R801be1939ae64e19" /><Relationship Type="http://schemas.openxmlformats.org/officeDocument/2006/relationships/notesSlide" Target="/ppt/notesSlides/notesSlide3.xml" Id="Ra38349511d5246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379a099f3f4867" /><Relationship Type="http://schemas.openxmlformats.org/officeDocument/2006/relationships/image" Target="/ppt/media/image3.png" Id="R099018041411419a" /><Relationship Type="http://schemas.openxmlformats.org/officeDocument/2006/relationships/image" Target="/ppt/media/image5.png" Id="R3d23da0a1fc848d3" /><Relationship Type="http://schemas.openxmlformats.org/officeDocument/2006/relationships/notesSlide" Target="/ppt/notesSlides/notesSlide4.xml" Id="R84f46e99a58446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0b91bc82714dbe" /><Relationship Type="http://schemas.openxmlformats.org/officeDocument/2006/relationships/image" Target="/ppt/media/image3.png" Id="R4a355df0f14a42cd" /><Relationship Type="http://schemas.openxmlformats.org/officeDocument/2006/relationships/image" Target="/ppt/media/image6.png" Id="R0dba79a9c93846b5" /><Relationship Type="http://schemas.openxmlformats.org/officeDocument/2006/relationships/notesSlide" Target="/ppt/notesSlides/notesSlide5.xml" Id="Rc8cc44686ade42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d6f4aa726344f6" /><Relationship Type="http://schemas.openxmlformats.org/officeDocument/2006/relationships/image" Target="/ppt/media/image3.png" Id="R587d407d6aaa449b" /><Relationship Type="http://schemas.openxmlformats.org/officeDocument/2006/relationships/image" Target="/ppt/media/image7.png" Id="Ra288ad7df1254066" /><Relationship Type="http://schemas.openxmlformats.org/officeDocument/2006/relationships/notesSlide" Target="/ppt/notesSlides/notesSlide6.xml" Id="R116d7bff5d394b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f6510533e242db" /><Relationship Type="http://schemas.openxmlformats.org/officeDocument/2006/relationships/image" Target="/ppt/media/image3.png" Id="Rfa3be74896824d8a" /><Relationship Type="http://schemas.openxmlformats.org/officeDocument/2006/relationships/image" Target="/ppt/media/image8.png" Id="Rfdfa59c0ec7c4a34" /><Relationship Type="http://schemas.openxmlformats.org/officeDocument/2006/relationships/notesSlide" Target="/ppt/notesSlides/notesSlide7.xml" Id="R9c4bcf9c4ab247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336fa423a54cf2" /><Relationship Type="http://schemas.openxmlformats.org/officeDocument/2006/relationships/image" Target="/ppt/media/image3.png" Id="Rb178d1ddd3fc465d" /><Relationship Type="http://schemas.openxmlformats.org/officeDocument/2006/relationships/image" Target="/ppt/media/image9.png" Id="R2dbe4b8219bc4a3f" /><Relationship Type="http://schemas.openxmlformats.org/officeDocument/2006/relationships/notesSlide" Target="/ppt/notesSlides/notesSlide8.xml" Id="R855527daa20e46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3817fc8c114df4" /><Relationship Type="http://schemas.openxmlformats.org/officeDocument/2006/relationships/image" Target="/ppt/media/image3.png" Id="Rdbf896392a104d39" /><Relationship Type="http://schemas.openxmlformats.org/officeDocument/2006/relationships/notesSlide" Target="/ppt/notesSlides/notesSlide9.xml" Id="R074f4b6f41e64e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32b60258674464" /><Relationship Type="http://schemas.openxmlformats.org/officeDocument/2006/relationships/image" Target="/ppt/media/image.png" Id="R8bd6973e245f48d3" /><Relationship Type="http://schemas.openxmlformats.org/officeDocument/2006/relationships/image" Target="/ppt/media/image2.png" Id="Rd4d1a2569d8d4d1c" /><Relationship Type="http://schemas.openxmlformats.org/officeDocument/2006/relationships/notesSlide" Target="/ppt/notesSlides/notesSlide10.xml" Id="Rc77e49fb96884b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268a542b54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1fdfc43924b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5856" y="2014189"/>
            <a:ext cx="1060135" cy="800448"/>
          </a:xfrm>
          <a:prstGeom xmlns:a="http://schemas.openxmlformats.org/drawingml/2006/main" prst="rect">
            <a:avLst/>
          </a:prstGeom>
        </p:spPr>
      </p:pic>
      <p:sp>
        <p:nvSpPr>
          <p:cNvPr id="10" name="PLC 통신 테스트를 위한">
            <a:extLst xmlns:a="http://schemas.openxmlformats.org/drawingml/2006/main">
              <a:ext uri="{FF2B5EF4-FFF2-40B4-BE49-F238E27FC236}">
                <a16:creationId xmlns:a16="http://schemas.microsoft.com/office/drawing/2014/main" id="{398413D5-4C12-4DB5-953F-FB8170D8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PLC 통신 테스트를 위한</a:t>
            </a:r>
          </a:p>
        </p:txBody>
      </p:sp>
      <p:sp>
        <p:nvSpPr>
          <p:cNvPr id="11" name="PLC Simulator">
            <a:extLst xmlns:a="http://schemas.openxmlformats.org/drawingml/2006/main">
              <a:ext uri="{FF2B5EF4-FFF2-40B4-BE49-F238E27FC236}">
                <a16:creationId xmlns:a16="http://schemas.microsoft.com/office/drawing/2014/main" id="{CB8CE867-79AF-4999-ABB6-01334DF9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BEF1"/>
                </a:solidFill>
                <a:latin typeface="Poppins"/>
                <a:ea typeface="Poppins"/>
                <a:cs typeface="Poppins"/>
              </a:defRPr>
            </a:pPr>
            <a:r>
              <a:rPr sz="4050" b="1">
                <a:solidFill>
                  <a:srgbClr val="2FBEF1"/>
                </a:solidFill>
                <a:latin typeface="Poppins"/>
                <a:ea typeface="Poppins"/>
                <a:cs typeface="Poppins"/>
              </a:rPr>
              <a:t>PLC Simulator</a:t>
            </a:r>
          </a:p>
        </p:txBody>
      </p:sp>
      <p:sp>
        <p:nvSpPr>
          <p:cNvPr id="12" name="실제 PLC 없이 메모리와 태그를 구성하고&#10;클라이언트의 읽">
            <a:extLst xmlns:a="http://schemas.openxmlformats.org/drawingml/2006/main">
              <a:ext uri="{FF2B5EF4-FFF2-40B4-BE49-F238E27FC236}">
                <a16:creationId xmlns:a16="http://schemas.microsoft.com/office/drawing/2014/main" id="{0DD832AB-CC08-4637-B296-A4B6B6AD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rPr>
              <a:t>실제 PLC 없이 메모리와 태그를 구성하고</a:t>
            </a:r>
          </a:p>
          <a:p xmlns:a="http://schemas.openxmlformats.org/drawingml/2006/main">
            <a:pPr algn="ctr">
              <a:defRPr sz="172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rPr>
              <a:t>클라이언트의 읽기·쓰기 동작을 검증합니다</a:t>
            </a:r>
          </a:p>
        </p:txBody>
      </p:sp>
      <p:sp>
        <p:nvSpPr>
          <p:cNvPr id="13" name="JAYON Industrial Solutions">
            <a:extLst xmlns:a="http://schemas.openxmlformats.org/drawingml/2006/main">
              <a:ext uri="{FF2B5EF4-FFF2-40B4-BE49-F238E27FC236}">
                <a16:creationId xmlns:a16="http://schemas.microsoft.com/office/drawing/2014/main" id="{6302E058-F09F-40E4-8FAD-055CEB8F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578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9CE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A9B9CE"/>
                </a:solidFill>
                <a:latin typeface="Poppins"/>
                <a:ea typeface="Poppins"/>
                <a:cs typeface="Poppins"/>
              </a:rPr>
              <a:t>JAYON Industrial Solutions</a:t>
            </a:r>
          </a:p>
        </p:txBody>
      </p:sp>
    </p:spTree>
    <p:extLst>
      <p:ext uri="{BB962C8B-B14F-4D97-AF65-F5344CB8AC3E}">
        <p14:creationId xmlns:p14="http://schemas.microsoft.com/office/powerpoint/2010/main" val="1996052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1fcff6028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6" name="PLC Simulator 제품 개요">
            <a:extLst xmlns:a="http://schemas.openxmlformats.org/drawingml/2006/main">
              <a:ext uri="{FF2B5EF4-FFF2-40B4-BE49-F238E27FC236}">
                <a16:creationId xmlns:a16="http://schemas.microsoft.com/office/drawing/2014/main" id="{76F679F4-2897-4603-85FF-46A40CD7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PLC Simulator 제품 개요</a:t>
            </a:r>
          </a:p>
        </p:txBody>
      </p:sp>
      <p:sp>
        <p:nvSpPr>
          <p:cNvPr id="17" name="PRODUCT OVERVIEW">
            <a:extLst xmlns:a="http://schemas.openxmlformats.org/drawingml/2006/main">
              <a:ext uri="{FF2B5EF4-FFF2-40B4-BE49-F238E27FC236}">
                <a16:creationId xmlns:a16="http://schemas.microsoft.com/office/drawing/2014/main" id="{07A6DFC2-FEAC-4A91-BE92-F83B281D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3C0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C73C0"/>
                </a:solidFill>
                <a:latin typeface="Poppins"/>
                <a:ea typeface="Poppins"/>
                <a:cs typeface="Poppins"/>
              </a:rPr>
              <a:t>PRODUCT OVERVIEW</a:t>
            </a:r>
          </a:p>
        </p:txBody>
      </p:sp>
      <p:sp>
        <p:nvSpPr>
          <p:cNvPr id="18" name="02">
            <a:extLst xmlns:a="http://schemas.openxmlformats.org/drawingml/2006/main">
              <a:ext uri="{FF2B5EF4-FFF2-40B4-BE49-F238E27FC236}">
                <a16:creationId xmlns:a16="http://schemas.microsoft.com/office/drawing/2014/main" id="{B45F2E1C-B793-4591-B034-2F4F56C9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65A73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465A73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9" name="장비 없이 통신 테스트">
            <a:extLst xmlns:a="http://schemas.openxmlformats.org/drawingml/2006/main">
              <a:ext uri="{FF2B5EF4-FFF2-40B4-BE49-F238E27FC236}">
                <a16:creationId xmlns:a16="http://schemas.microsoft.com/office/drawing/2014/main" id="{01FFF9C1-5973-43C5-A6B7-32FCA9F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장비 없이 통신 테스트</a:t>
            </a:r>
          </a:p>
        </p:txBody>
      </p:sp>
      <p:sp>
        <p:nvSpPr>
          <p:cNvPr id="20" name="가상 PLC를 생성하고&#10;IP·포트와 메모리를 설정합니다.">
            <a:extLst xmlns:a="http://schemas.openxmlformats.org/drawingml/2006/main">
              <a:ext uri="{FF2B5EF4-FFF2-40B4-BE49-F238E27FC236}">
                <a16:creationId xmlns:a16="http://schemas.microsoft.com/office/drawing/2014/main" id="{A7114968-A083-42F1-91F2-AC5BBA8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가상 PLC를 생성하고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IP·포트와 메모리를 설정합니다.</a:t>
            </a:r>
          </a:p>
        </p:txBody>
      </p:sp>
      <p:sp>
        <p:nvSpPr>
          <p:cNvPr id="21" name="PLC별 독립 운영">
            <a:extLst xmlns:a="http://schemas.openxmlformats.org/drawingml/2006/main">
              <a:ext uri="{FF2B5EF4-FFF2-40B4-BE49-F238E27FC236}">
                <a16:creationId xmlns:a16="http://schemas.microsoft.com/office/drawing/2014/main" id="{8A195592-B457-4A54-BA2E-A382542D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PLC별 독립 운영</a:t>
            </a:r>
          </a:p>
        </p:txBody>
      </p:sp>
      <p:sp>
        <p:nvSpPr>
          <p:cNvPr id="22" name="각 PLC의 시작·정지와&#10;Manual·Sim·Script·">
            <a:extLst xmlns:a="http://schemas.openxmlformats.org/drawingml/2006/main">
              <a:ext uri="{FF2B5EF4-FFF2-40B4-BE49-F238E27FC236}">
                <a16:creationId xmlns:a16="http://schemas.microsoft.com/office/drawing/2014/main" id="{DB7A0F50-67CC-4D29-A455-4A202985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각 PLC의 시작·정지와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Manual·Sim·Script·Ladder 모드를 관리합니다.</a:t>
            </a:r>
          </a:p>
        </p:txBody>
      </p:sp>
      <p:sp>
        <p:nvSpPr>
          <p:cNvPr id="23" name="값과 통신을 함께 확인">
            <a:extLst xmlns:a="http://schemas.openxmlformats.org/drawingml/2006/main">
              <a:ext uri="{FF2B5EF4-FFF2-40B4-BE49-F238E27FC236}">
                <a16:creationId xmlns:a16="http://schemas.microsoft.com/office/drawing/2014/main" id="{B4DC29E3-C2AF-4C83-B75D-60EF2CE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값과 통신을 함께 확인</a:t>
            </a:r>
          </a:p>
        </p:txBody>
      </p:sp>
      <p:sp>
        <p:nvSpPr>
          <p:cNvPr id="24" name="메모리 모니터에서 값을 보고&#10;통신 로그로 요청·응답을 확인">
            <a:extLst xmlns:a="http://schemas.openxmlformats.org/drawingml/2006/main">
              <a:ext uri="{FF2B5EF4-FFF2-40B4-BE49-F238E27FC236}">
                <a16:creationId xmlns:a16="http://schemas.microsoft.com/office/drawing/2014/main" id="{DF3FD912-5C74-4229-872E-7753B9F6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메모리 모니터에서 값을 보고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통신 로그로 요청·응답을 확인합니다.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4f8eab9824880"/>
          <a:stretch xmlns:a="http://schemas.openxmlformats.org/drawingml/2006/main"/>
        </p:blipFill>
        <p:spPr>
          <a:xfrm xmlns:a="http://schemas.openxmlformats.org/drawingml/2006/main">
            <a:off x="4000500" y="1676400"/>
            <a:ext cx="7620000" cy="4572000"/>
          </a:xfrm>
          <a:prstGeom xmlns:a="http://schemas.openxmlformats.org/drawingml/2006/main" prst="rect">
            <a:avLst/>
          </a:prstGeom>
        </p:spPr>
      </p:pic>
      <p:sp>
        <p:nvSpPr>
          <p:cNvPr id="26" name="ControlLogix는 Manual·Script·Ladd">
            <a:extLst xmlns:a="http://schemas.openxmlformats.org/drawingml/2006/main">
              <a:ext uri="{FF2B5EF4-FFF2-40B4-BE49-F238E27FC236}">
                <a16:creationId xmlns:a16="http://schemas.microsoft.com/office/drawing/2014/main" id="{FCBF70D2-A370-4DFC-AE2D-B7FC612B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ControlLogix는 Manual·Script·Ladder 모드를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55220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be1939ae64e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9" name="지원 PLC 통신">
            <a:extLst xmlns:a="http://schemas.openxmlformats.org/drawingml/2006/main">
              <a:ext uri="{FF2B5EF4-FFF2-40B4-BE49-F238E27FC236}">
                <a16:creationId xmlns:a16="http://schemas.microsoft.com/office/drawing/2014/main" id="{66865582-5314-41F2-B219-867416FA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지원 PLC 통신</a:t>
            </a:r>
          </a:p>
        </p:txBody>
      </p:sp>
      <p:sp>
        <p:nvSpPr>
          <p:cNvPr id="20" name="SUPPORTED PROTOCOLS">
            <a:extLst xmlns:a="http://schemas.openxmlformats.org/drawingml/2006/main">
              <a:ext uri="{FF2B5EF4-FFF2-40B4-BE49-F238E27FC236}">
                <a16:creationId xmlns:a16="http://schemas.microsoft.com/office/drawing/2014/main" id="{F24D168E-F30E-47D2-8BC6-0C435965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3C0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C73C0"/>
                </a:solidFill>
                <a:latin typeface="Poppins"/>
                <a:ea typeface="Poppins"/>
                <a:cs typeface="Poppins"/>
              </a:rPr>
              <a:t>SUPPORTED PROTOCOLS</a:t>
            </a:r>
          </a:p>
        </p:txBody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034F022E-D7EC-4B44-A10A-5CA53CD8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65A73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465A73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2" name="PLC Driver와 클라이언트가 가상 PLC의 데이터에 ">
            <a:extLst xmlns:a="http://schemas.openxmlformats.org/drawingml/2006/main">
              <a:ext uri="{FF2B5EF4-FFF2-40B4-BE49-F238E27FC236}">
                <a16:creationId xmlns:a16="http://schemas.microsoft.com/office/drawing/2014/main" id="{907C6149-B133-47A5-BBD3-4523CAF8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PLC Driver와 클라이언트가 가상 PLC의 데이터에 접근합니다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71500" y="19240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286125"/>
                <a:gridCol w="5572125"/>
              </a:tblGrid>
              <a:tr h="676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</a:t>
                      </a:r>
                    </a:p>
                  </a:txBody>
                  <a:tcPr marL="91440" marR="91440" marT="45720" marB="45720">
                    <a:solidFill>
                      <a:srgbClr val="0C2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통신 방식</a:t>
                      </a:r>
                    </a:p>
                  </a:txBody>
                  <a:tcPr marL="91440" marR="91440" marT="45720" marB="45720">
                    <a:solidFill>
                      <a:srgbClr val="0C2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주요 테스트 데이터</a:t>
                      </a:r>
                    </a:p>
                  </a:txBody>
                  <a:tcPr marL="91440" marR="91440" marT="45720" marB="45720">
                    <a:solidFill>
                      <a:srgbClr val="0C203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MELSEC 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MC 3E Binary / ASCII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D·M·X·Y·W·B·R·ZR 주소 읽기·쓰기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LS XGT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XGT Ethernet Binary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I·Q·M·W·D의 비트 및 워드 계열 데이터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Modbus TCP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TCP / MBAP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Coil·Discrete Input·Holding / Input Register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ControlLogix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EtherNet/IP / CIP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BOOL·INT·DINT·REAL·STRING 및 기본형 UDT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24" name="지원 범위에 맞춘 통신 데이터 시뮬레이터">
            <a:extLst xmlns:a="http://schemas.openxmlformats.org/drawingml/2006/main">
              <a:ext uri="{FF2B5EF4-FFF2-40B4-BE49-F238E27FC236}">
                <a16:creationId xmlns:a16="http://schemas.microsoft.com/office/drawing/2014/main" id="{CE7F6FD9-F9A8-413E-A4AC-B7C874EF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지원 범위에 맞춘 통신 데이터 시뮬레이터</a:t>
            </a:r>
          </a:p>
        </p:txBody>
      </p:sp>
      <p:sp>
        <p:nvSpPr>
          <p:cNvPr id="25" name="실제 PLC CPU의 모든 명령을 재현하지 않습니다. Co">
            <a:extLst xmlns:a="http://schemas.openxmlformats.org/drawingml/2006/main">
              <a:ext uri="{FF2B5EF4-FFF2-40B4-BE49-F238E27FC236}">
                <a16:creationId xmlns:a16="http://schemas.microsoft.com/office/drawing/2014/main" id="{35EE53D2-3123-4911-88BC-6E10100E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실제 PLC CPU의 모든 명령을 재현하지 않습니다. ControlLogix의 상용 클라이언트별 호환성은 개별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447580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01804141141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5" name="메모리 데이터와 사용자 정의 맵">
            <a:extLst xmlns:a="http://schemas.openxmlformats.org/drawingml/2006/main">
              <a:ext uri="{FF2B5EF4-FFF2-40B4-BE49-F238E27FC236}">
                <a16:creationId xmlns:a16="http://schemas.microsoft.com/office/drawing/2014/main" id="{466FDB3A-EE36-4F4C-B8A6-9F8E1E95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메모리 데이터와 사용자 정의 맵</a:t>
            </a:r>
          </a:p>
        </p:txBody>
      </p:sp>
      <p:sp>
        <p:nvSpPr>
          <p:cNvPr id="16" name="MEMORY &amp; USER MAP">
            <a:extLst xmlns:a="http://schemas.openxmlformats.org/drawingml/2006/main">
              <a:ext uri="{FF2B5EF4-FFF2-40B4-BE49-F238E27FC236}">
                <a16:creationId xmlns:a16="http://schemas.microsoft.com/office/drawing/2014/main" id="{5B50ADAB-8C17-4021-9B4D-A8A5F145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3C0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C73C0"/>
                </a:solidFill>
                <a:latin typeface="Poppins"/>
                <a:ea typeface="Poppins"/>
                <a:cs typeface="Poppins"/>
              </a:rPr>
              <a:t>MEMORY &amp; USER MAP</a:t>
            </a:r>
          </a:p>
        </p:txBody>
      </p:sp>
      <p:sp>
        <p:nvSpPr>
          <p:cNvPr id="17" name="04">
            <a:extLst xmlns:a="http://schemas.openxmlformats.org/drawingml/2006/main">
              <a:ext uri="{FF2B5EF4-FFF2-40B4-BE49-F238E27FC236}">
                <a16:creationId xmlns:a16="http://schemas.microsoft.com/office/drawing/2014/main" id="{7F2B5C5F-5C71-42E9-91EB-81A7D63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65A73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465A73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18" name="여러 형식으로 값 확인">
            <a:extLst xmlns:a="http://schemas.openxmlformats.org/drawingml/2006/main">
              <a:ext uri="{FF2B5EF4-FFF2-40B4-BE49-F238E27FC236}">
                <a16:creationId xmlns:a16="http://schemas.microsoft.com/office/drawing/2014/main" id="{AF88FC75-F748-4600-B6B6-268CA3DF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여러 형식으로 값 확인</a:t>
            </a:r>
          </a:p>
        </p:txBody>
      </p:sp>
      <p:sp>
        <p:nvSpPr>
          <p:cNvPr id="19" name="10진수·HEX·ASCII·Binary를&#10;한 그리드에서 확">
            <a:extLst xmlns:a="http://schemas.openxmlformats.org/drawingml/2006/main">
              <a:ext uri="{FF2B5EF4-FFF2-40B4-BE49-F238E27FC236}">
                <a16:creationId xmlns:a16="http://schemas.microsoft.com/office/drawing/2014/main" id="{A58F50BD-C81A-47C1-A935-879808E0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10진수·HEX·ASCII·Binary를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한 그리드에서 확인합니다.</a:t>
            </a:r>
          </a:p>
        </p:txBody>
      </p:sp>
      <p:sp>
        <p:nvSpPr>
          <p:cNvPr id="20" name="테스트 데이터 재사용">
            <a:extLst xmlns:a="http://schemas.openxmlformats.org/drawingml/2006/main">
              <a:ext uri="{FF2B5EF4-FFF2-40B4-BE49-F238E27FC236}">
                <a16:creationId xmlns:a16="http://schemas.microsoft.com/office/drawing/2014/main" id="{746850F5-2CA7-4128-A7FE-D4BDB203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테스트 데이터 재사용</a:t>
            </a:r>
          </a:p>
        </p:txBody>
      </p:sp>
      <p:sp>
        <p:nvSpPr>
          <p:cNvPr id="21" name="맵의 타입·크기·값을 정의하고&#10;여러 주소형 PLC에서 활용">
            <a:extLst xmlns:a="http://schemas.openxmlformats.org/drawingml/2006/main">
              <a:ext uri="{FF2B5EF4-FFF2-40B4-BE49-F238E27FC236}">
                <a16:creationId xmlns:a16="http://schemas.microsoft.com/office/drawing/2014/main" id="{7E4DB3FD-E423-4D19-A0FA-40F7A6A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맵의 타입·크기·값을 정의하고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여러 주소형 PLC에서 활용합니다.</a:t>
            </a:r>
          </a:p>
        </p:txBody>
      </p:sp>
      <p:sp>
        <p:nvSpPr>
          <p:cNvPr id="22" name="반복 패턴 구성">
            <a:extLst xmlns:a="http://schemas.openxmlformats.org/drawingml/2006/main">
              <a:ext uri="{FF2B5EF4-FFF2-40B4-BE49-F238E27FC236}">
                <a16:creationId xmlns:a16="http://schemas.microsoft.com/office/drawing/2014/main" id="{6F8DFE49-86A6-4107-AA36-FB7504D2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반복 패턴 구성</a:t>
            </a:r>
          </a:p>
        </p:txBody>
      </p:sp>
      <p:sp>
        <p:nvSpPr>
          <p:cNvPr id="23" name="Simulation의 Map 규칙으로&#10;표시·클리어 주기를 ">
            <a:extLst xmlns:a="http://schemas.openxmlformats.org/drawingml/2006/main">
              <a:ext uri="{FF2B5EF4-FFF2-40B4-BE49-F238E27FC236}">
                <a16:creationId xmlns:a16="http://schemas.microsoft.com/office/drawing/2014/main" id="{DB29EA01-CCF8-4801-BD24-B6572287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Simulation의 Map 규칙으로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표시·클리어 주기를 설정합니다.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3da0a1fc848d3"/>
          <a:stretch xmlns:a="http://schemas.openxmlformats.org/drawingml/2006/main"/>
        </p:blipFill>
        <p:spPr>
          <a:xfrm xmlns:a="http://schemas.openxmlformats.org/drawingml/2006/main">
            <a:off x="4000500" y="1676400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08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55df0f14a42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2" name="ControlLogix 태그와 UDT">
            <a:extLst xmlns:a="http://schemas.openxmlformats.org/drawingml/2006/main">
              <a:ext uri="{FF2B5EF4-FFF2-40B4-BE49-F238E27FC236}">
                <a16:creationId xmlns:a16="http://schemas.microsoft.com/office/drawing/2014/main" id="{66BE2F38-BBD7-4836-8B8C-F611F6F9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ControlLogix 태그와 UDT</a:t>
            </a:r>
          </a:p>
        </p:txBody>
      </p:sp>
      <p:sp>
        <p:nvSpPr>
          <p:cNvPr id="23" name="TAG &amp; UDT">
            <a:extLst xmlns:a="http://schemas.openxmlformats.org/drawingml/2006/main">
              <a:ext uri="{FF2B5EF4-FFF2-40B4-BE49-F238E27FC236}">
                <a16:creationId xmlns:a16="http://schemas.microsoft.com/office/drawing/2014/main" id="{EEB2835A-C803-42A0-8E6C-E50D81FF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3C0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C73C0"/>
                </a:solidFill>
                <a:latin typeface="Poppins"/>
                <a:ea typeface="Poppins"/>
                <a:cs typeface="Poppins"/>
              </a:rPr>
              <a:t>TAG &amp; UDT</a:t>
            </a:r>
          </a:p>
        </p:txBody>
      </p:sp>
      <p:sp>
        <p:nvSpPr>
          <p:cNvPr id="24" name="05">
            <a:extLst xmlns:a="http://schemas.openxmlformats.org/drawingml/2006/main">
              <a:ext uri="{FF2B5EF4-FFF2-40B4-BE49-F238E27FC236}">
                <a16:creationId xmlns:a16="http://schemas.microsoft.com/office/drawing/2014/main" id="{CE7328B1-1573-42EE-B34A-2926811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65A73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465A73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25" name="태그 등록과 모니터링">
            <a:extLst xmlns:a="http://schemas.openxmlformats.org/drawingml/2006/main">
              <a:ext uri="{FF2B5EF4-FFF2-40B4-BE49-F238E27FC236}">
                <a16:creationId xmlns:a16="http://schemas.microsoft.com/office/drawing/2014/main" id="{2C264697-7CD0-45FE-8B4D-65B6A6C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태그 등록과 모니터링</a:t>
            </a:r>
          </a:p>
        </p:txBody>
      </p:sp>
      <p:sp>
        <p:nvSpPr>
          <p:cNvPr id="26" name="같은 그리드에서 이름·타입을&#10;등록하고 현재 값을 확인합니다">
            <a:extLst xmlns:a="http://schemas.openxmlformats.org/drawingml/2006/main">
              <a:ext uri="{FF2B5EF4-FFF2-40B4-BE49-F238E27FC236}">
                <a16:creationId xmlns:a16="http://schemas.microsoft.com/office/drawing/2014/main" id="{1065C9F7-24E1-4675-A22B-B9AF905E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같은 그리드에서 이름·타입을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등록하고 현재 값을 확인합니다.</a:t>
            </a:r>
          </a:p>
        </p:txBody>
      </p:sp>
      <p:sp>
        <p:nvSpPr>
          <p:cNvPr id="27" name="설비 단위의 데이터 정의">
            <a:extLst xmlns:a="http://schemas.openxmlformats.org/drawingml/2006/main">
              <a:ext uri="{FF2B5EF4-FFF2-40B4-BE49-F238E27FC236}">
                <a16:creationId xmlns:a16="http://schemas.microsoft.com/office/drawing/2014/main" id="{441E2D4F-C1D6-40E2-96DA-3A9F3B25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설비 단위의 데이터 정의</a:t>
            </a:r>
          </a:p>
        </p:txBody>
      </p:sp>
      <p:sp>
        <p:nvSpPr>
          <p:cNvPr id="28" name="UDT에 Run·Speed·Count 등&#10;멤버를 정의해 태">
            <a:extLst xmlns:a="http://schemas.openxmlformats.org/drawingml/2006/main">
              <a:ext uri="{FF2B5EF4-FFF2-40B4-BE49-F238E27FC236}">
                <a16:creationId xmlns:a16="http://schemas.microsoft.com/office/drawing/2014/main" id="{A35E4593-4D80-4467-8C46-586D0082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UDT에 Run·Speed·Count 등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멤버를 정의해 태그 타입으로 씁니다.</a:t>
            </a:r>
          </a:p>
        </p:txBody>
      </p:sp>
      <p:sp>
        <p:nvSpPr>
          <p:cNvPr id="29" name="클라이언트 읽기·쓰기">
            <a:extLst xmlns:a="http://schemas.openxmlformats.org/drawingml/2006/main">
              <a:ext uri="{FF2B5EF4-FFF2-40B4-BE49-F238E27FC236}">
                <a16:creationId xmlns:a16="http://schemas.microsoft.com/office/drawing/2014/main" id="{0FFD21C8-52FE-429A-8A9E-4233D3FB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클라이언트 읽기·쓰기</a:t>
            </a:r>
          </a:p>
        </p:txBody>
      </p:sp>
      <p:sp>
        <p:nvSpPr>
          <p:cNvPr id="30" name="기본형 태그와 UDT 멤버의&#10;데이터 접근을 테스트합니다.">
            <a:extLst xmlns:a="http://schemas.openxmlformats.org/drawingml/2006/main">
              <a:ext uri="{FF2B5EF4-FFF2-40B4-BE49-F238E27FC236}">
                <a16:creationId xmlns:a16="http://schemas.microsoft.com/office/drawing/2014/main" id="{B6228589-59BA-4680-9A04-0A068368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기본형 태그와 UDT 멤버의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데이터 접근을 테스트합니다.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a79a9c93846b5"/>
          <a:stretch xmlns:a="http://schemas.openxmlformats.org/drawingml/2006/main"/>
        </p:blipFill>
        <p:spPr>
          <a:xfrm xmlns:a="http://schemas.openxmlformats.org/drawingml/2006/main">
            <a:off x="4000500" y="1676400"/>
            <a:ext cx="7620000" cy="4572000"/>
          </a:xfrm>
          <a:prstGeom xmlns:a="http://schemas.openxmlformats.org/drawingml/2006/main" prst="rect">
            <a:avLst/>
          </a:prstGeom>
        </p:spPr>
      </p:pic>
      <p:sp>
        <p:nvSpPr>
          <p:cNvPr id="32" name="태그·UDT 정의는 정지 중 편집합니다. UDT 멤버는 기">
            <a:extLst xmlns:a="http://schemas.openxmlformats.org/drawingml/2006/main">
              <a:ext uri="{FF2B5EF4-FFF2-40B4-BE49-F238E27FC236}">
                <a16:creationId xmlns:a16="http://schemas.microsoft.com/office/drawing/2014/main" id="{0E301BDD-2410-400E-ACB9-C8157082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태그·UDT 정의는 정지 중 편집합니다. UDT 멤버는 기본형을 지원합니다.</a:t>
            </a:r>
          </a:p>
        </p:txBody>
      </p:sp>
    </p:spTree>
    <p:extLst>
      <p:ext uri="{BB962C8B-B14F-4D97-AF65-F5344CB8AC3E}">
        <p14:creationId xmlns:p14="http://schemas.microsoft.com/office/powerpoint/2010/main" val="684665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d407d6aaa44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1" name="규칙 기반 시뮬레이션">
            <a:extLst xmlns:a="http://schemas.openxmlformats.org/drawingml/2006/main">
              <a:ext uri="{FF2B5EF4-FFF2-40B4-BE49-F238E27FC236}">
                <a16:creationId xmlns:a16="http://schemas.microsoft.com/office/drawing/2014/main" id="{8C831503-B9E0-4228-9738-ABA02EFB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규칙 기반 시뮬레이션</a:t>
            </a:r>
          </a:p>
        </p:txBody>
      </p:sp>
      <p:sp>
        <p:nvSpPr>
          <p:cNvPr id="12" name="SIMULATION MODE">
            <a:extLst xmlns:a="http://schemas.openxmlformats.org/drawingml/2006/main">
              <a:ext uri="{FF2B5EF4-FFF2-40B4-BE49-F238E27FC236}">
                <a16:creationId xmlns:a16="http://schemas.microsoft.com/office/drawing/2014/main" id="{8DADAD6D-E7AE-47A5-ADE5-E58DF4FE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3C0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C73C0"/>
                </a:solidFill>
                <a:latin typeface="Poppins"/>
                <a:ea typeface="Poppins"/>
                <a:cs typeface="Poppins"/>
              </a:rPr>
              <a:t>SIMULATION MODE</a:t>
            </a:r>
          </a:p>
        </p:txBody>
      </p:sp>
      <p:sp>
        <p:nvSpPr>
          <p:cNvPr id="13" name="06">
            <a:extLst xmlns:a="http://schemas.openxmlformats.org/drawingml/2006/main">
              <a:ext uri="{FF2B5EF4-FFF2-40B4-BE49-F238E27FC236}">
                <a16:creationId xmlns:a16="http://schemas.microsoft.com/office/drawing/2014/main" id="{575B077C-7B12-4C64-A353-DEF8CF14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65A73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465A73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14" name="주소 범위를 한 번에 설정">
            <a:extLst xmlns:a="http://schemas.openxmlformats.org/drawingml/2006/main">
              <a:ext uri="{FF2B5EF4-FFF2-40B4-BE49-F238E27FC236}">
                <a16:creationId xmlns:a16="http://schemas.microsoft.com/office/drawing/2014/main" id="{EA22A17F-718C-439B-86BC-5B01C22C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주소 범위를 한 번에 설정</a:t>
            </a:r>
          </a:p>
        </p:txBody>
      </p:sp>
      <p:sp>
        <p:nvSpPr>
          <p:cNvPr id="15" name="Device·시작 주소·크기·자료형을&#10;지정해 여러 값을 움">
            <a:extLst xmlns:a="http://schemas.openxmlformats.org/drawingml/2006/main">
              <a:ext uri="{FF2B5EF4-FFF2-40B4-BE49-F238E27FC236}">
                <a16:creationId xmlns:a16="http://schemas.microsoft.com/office/drawing/2014/main" id="{10B98A60-B954-4F94-9ADE-1E4224F7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Device·시작 주소·크기·자료형을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지정해 여러 값을 움직입니다.</a:t>
            </a:r>
          </a:p>
        </p:txBody>
      </p:sp>
      <p:sp>
        <p:nvSpPr>
          <p:cNvPr id="16" name="규칙으로 데이터 생성">
            <a:extLst xmlns:a="http://schemas.openxmlformats.org/drawingml/2006/main">
              <a:ext uri="{FF2B5EF4-FFF2-40B4-BE49-F238E27FC236}">
                <a16:creationId xmlns:a16="http://schemas.microsoft.com/office/drawing/2014/main" id="{A501E138-892E-4877-917D-39BE4CB7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규칙으로 데이터 생성</a:t>
            </a:r>
          </a:p>
        </p:txBody>
      </p:sp>
      <p:sp>
        <p:nvSpPr>
          <p:cNvPr id="17" name="Random·Increment·Fixed·&#10;Sequence">
            <a:extLst xmlns:a="http://schemas.openxmlformats.org/drawingml/2006/main">
              <a:ext uri="{FF2B5EF4-FFF2-40B4-BE49-F238E27FC236}">
                <a16:creationId xmlns:a16="http://schemas.microsoft.com/office/drawing/2014/main" id="{17ECD895-E924-40CE-AA81-E82AE45D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Random·Increment·Fixed·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Sequence·Map을 선택합니다.</a:t>
            </a:r>
          </a:p>
        </p:txBody>
      </p:sp>
      <p:sp>
        <p:nvSpPr>
          <p:cNvPr id="18" name="주기별 반복 테스트">
            <a:extLst xmlns:a="http://schemas.openxmlformats.org/drawingml/2006/main">
              <a:ext uri="{FF2B5EF4-FFF2-40B4-BE49-F238E27FC236}">
                <a16:creationId xmlns:a16="http://schemas.microsoft.com/office/drawing/2014/main" id="{FBAB1D26-05D3-459C-A403-68FE2B9F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주기별 반복 테스트</a:t>
            </a:r>
          </a:p>
        </p:txBody>
      </p:sp>
      <p:sp>
        <p:nvSpPr>
          <p:cNvPr id="19" name="Interval에 맞춰 값을 바꾸고&#10;클라이언트의 반복 읽기">
            <a:extLst xmlns:a="http://schemas.openxmlformats.org/drawingml/2006/main">
              <a:ext uri="{FF2B5EF4-FFF2-40B4-BE49-F238E27FC236}">
                <a16:creationId xmlns:a16="http://schemas.microsoft.com/office/drawing/2014/main" id="{55578EBF-01C1-4CBC-AB21-EAE7C2DF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Interval에 맞춰 값을 바꾸고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클라이언트의 반복 읽기를 확인합니다.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8ad7df1254066"/>
          <a:stretch xmlns:a="http://schemas.openxmlformats.org/drawingml/2006/main"/>
        </p:blipFill>
        <p:spPr>
          <a:xfrm xmlns:a="http://schemas.openxmlformats.org/drawingml/2006/main">
            <a:off x="4000500" y="1676400"/>
            <a:ext cx="7620000" cy="4572000"/>
          </a:xfrm>
          <a:prstGeom xmlns:a="http://schemas.openxmlformats.org/drawingml/2006/main" prst="rect">
            <a:avLst/>
          </a:prstGeom>
        </p:spPr>
      </p:pic>
      <p:sp>
        <p:nvSpPr>
          <p:cNvPr id="21" name="Sim 모드는 MELSEC·XGT·Modbus 등 주소형 ">
            <a:extLst xmlns:a="http://schemas.openxmlformats.org/drawingml/2006/main">
              <a:ext uri="{FF2B5EF4-FFF2-40B4-BE49-F238E27FC236}">
                <a16:creationId xmlns:a16="http://schemas.microsoft.com/office/drawing/2014/main" id="{5D2FC020-9C89-4943-BF07-F5C1ECBF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Sim 모드는 MELSEC·XGT·Modbus 등 주소형 PLC에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672564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be74896824d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5" name="C# 스크립트로 만드는 테스트 동작">
            <a:extLst xmlns:a="http://schemas.openxmlformats.org/drawingml/2006/main">
              <a:ext uri="{FF2B5EF4-FFF2-40B4-BE49-F238E27FC236}">
                <a16:creationId xmlns:a16="http://schemas.microsoft.com/office/drawing/2014/main" id="{330F0F7F-213B-4AE5-9C47-B4C26FB0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C# 스크립트로 만드는 테스트 동작</a:t>
            </a:r>
          </a:p>
        </p:txBody>
      </p:sp>
      <p:sp>
        <p:nvSpPr>
          <p:cNvPr id="16" name="SCRIPT MODE">
            <a:extLst xmlns:a="http://schemas.openxmlformats.org/drawingml/2006/main">
              <a:ext uri="{FF2B5EF4-FFF2-40B4-BE49-F238E27FC236}">
                <a16:creationId xmlns:a16="http://schemas.microsoft.com/office/drawing/2014/main" id="{6A2AB0DF-E85B-4956-A79A-F3466A3C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3C0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C73C0"/>
                </a:solidFill>
                <a:latin typeface="Poppins"/>
                <a:ea typeface="Poppins"/>
                <a:cs typeface="Poppins"/>
              </a:rPr>
              <a:t>SCRIPT MODE</a:t>
            </a:r>
          </a:p>
        </p:txBody>
      </p:sp>
      <p:sp>
        <p:nvSpPr>
          <p:cNvPr id="17" name="07">
            <a:extLst xmlns:a="http://schemas.openxmlformats.org/drawingml/2006/main">
              <a:ext uri="{FF2B5EF4-FFF2-40B4-BE49-F238E27FC236}">
                <a16:creationId xmlns:a16="http://schemas.microsoft.com/office/drawing/2014/main" id="{85D2B932-DEFC-4B4B-AD18-780896BD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65A73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465A73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  <p:sp>
        <p:nvSpPr>
          <p:cNvPr id="18" name="시작·주기·종료 동작">
            <a:extLst xmlns:a="http://schemas.openxmlformats.org/drawingml/2006/main">
              <a:ext uri="{FF2B5EF4-FFF2-40B4-BE49-F238E27FC236}">
                <a16:creationId xmlns:a16="http://schemas.microsoft.com/office/drawing/2014/main" id="{AF63AFBA-9EA9-49D0-BCC3-BEE11FE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시작·주기·종료 동작</a:t>
            </a:r>
          </a:p>
        </p:txBody>
      </p:sp>
      <p:sp>
        <p:nvSpPr>
          <p:cNvPr id="19" name="OnStart·OnTick·OnStop에서&#10;상황에 맞는 동">
            <a:extLst xmlns:a="http://schemas.openxmlformats.org/drawingml/2006/main">
              <a:ext uri="{FF2B5EF4-FFF2-40B4-BE49-F238E27FC236}">
                <a16:creationId xmlns:a16="http://schemas.microsoft.com/office/drawing/2014/main" id="{522EFF09-3F18-465C-BA0A-DEDA02CB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OnStart·OnTick·OnStop에서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상황에 맞는 동작을 작성합니다.</a:t>
            </a:r>
          </a:p>
        </p:txBody>
      </p:sp>
      <p:sp>
        <p:nvSpPr>
          <p:cNvPr id="20" name="PLC 데이터 제어 API">
            <a:extLst xmlns:a="http://schemas.openxmlformats.org/drawingml/2006/main">
              <a:ext uri="{FF2B5EF4-FFF2-40B4-BE49-F238E27FC236}">
                <a16:creationId xmlns:a16="http://schemas.microsoft.com/office/drawing/2014/main" id="{124D703E-9CFC-4118-90A4-E5E1E72C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PLC 데이터 제어 API</a:t>
            </a:r>
          </a:p>
        </p:txBody>
      </p:sp>
      <p:sp>
        <p:nvSpPr>
          <p:cNvPr id="21" name="주소·태그의 읽기·쓰기와&#10;복사·초기화·로그를 사용합니다.">
            <a:extLst xmlns:a="http://schemas.openxmlformats.org/drawingml/2006/main">
              <a:ext uri="{FF2B5EF4-FFF2-40B4-BE49-F238E27FC236}">
                <a16:creationId xmlns:a16="http://schemas.microsoft.com/office/drawing/2014/main" id="{27597C1C-08A2-4CA3-B886-25933814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주소·태그의 읽기·쓰기와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복사·초기화·로그를 사용합니다.</a:t>
            </a:r>
          </a:p>
        </p:txBody>
      </p:sp>
      <p:sp>
        <p:nvSpPr>
          <p:cNvPr id="22" name="편집과 오류 확인">
            <a:extLst xmlns:a="http://schemas.openxmlformats.org/drawingml/2006/main">
              <a:ext uri="{FF2B5EF4-FFF2-40B4-BE49-F238E27FC236}">
                <a16:creationId xmlns:a16="http://schemas.microsoft.com/office/drawing/2014/main" id="{4757E1FF-CDAA-4677-B292-3683D4B5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편집과 오류 확인</a:t>
            </a:r>
          </a:p>
        </p:txBody>
      </p:sp>
      <p:sp>
        <p:nvSpPr>
          <p:cNvPr id="23" name="예제 버튼과 들여쓰기,&#10;저장 시 문법 검사로 작성합니다.">
            <a:extLst xmlns:a="http://schemas.openxmlformats.org/drawingml/2006/main">
              <a:ext uri="{FF2B5EF4-FFF2-40B4-BE49-F238E27FC236}">
                <a16:creationId xmlns:a16="http://schemas.microsoft.com/office/drawing/2014/main" id="{6DFF41B5-C551-4A0F-93A8-0A21DF2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예제 버튼과 들여쓰기,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저장 시 문법 검사로 작성합니다.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a59c0ec7c4a34"/>
          <a:stretch xmlns:a="http://schemas.openxmlformats.org/drawingml/2006/main"/>
        </p:blipFill>
        <p:spPr>
          <a:xfrm xmlns:a="http://schemas.openxmlformats.org/drawingml/2006/main">
            <a:off x="4000500" y="1676400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87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8d1ddd3fc46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3" name="접점과 코일로 구성하는 Ladder">
            <a:extLst xmlns:a="http://schemas.openxmlformats.org/drawingml/2006/main">
              <a:ext uri="{FF2B5EF4-FFF2-40B4-BE49-F238E27FC236}">
                <a16:creationId xmlns:a16="http://schemas.microsoft.com/office/drawing/2014/main" id="{ABFD9CEA-7262-43B9-869D-E9269C0B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접점과 코일로 구성하는 Ladder</a:t>
            </a:r>
          </a:p>
        </p:txBody>
      </p:sp>
      <p:sp>
        <p:nvSpPr>
          <p:cNvPr id="24" name="LADDER MODE">
            <a:extLst xmlns:a="http://schemas.openxmlformats.org/drawingml/2006/main">
              <a:ext uri="{FF2B5EF4-FFF2-40B4-BE49-F238E27FC236}">
                <a16:creationId xmlns:a16="http://schemas.microsoft.com/office/drawing/2014/main" id="{B6E3A723-EA3A-4240-827E-FB42B1A0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3C0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C73C0"/>
                </a:solidFill>
                <a:latin typeface="Poppins"/>
                <a:ea typeface="Poppins"/>
                <a:cs typeface="Poppins"/>
              </a:rPr>
              <a:t>LADDER MODE</a:t>
            </a:r>
          </a:p>
        </p:txBody>
      </p:sp>
      <p:sp>
        <p:nvSpPr>
          <p:cNvPr id="25" name="08">
            <a:extLst xmlns:a="http://schemas.openxmlformats.org/drawingml/2006/main">
              <a:ext uri="{FF2B5EF4-FFF2-40B4-BE49-F238E27FC236}">
                <a16:creationId xmlns:a16="http://schemas.microsoft.com/office/drawing/2014/main" id="{CA296756-C7E7-4EDC-B98A-8C280E73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65A73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465A73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  <p:sp>
        <p:nvSpPr>
          <p:cNvPr id="26" name="화면에서 직접 편집">
            <a:extLst xmlns:a="http://schemas.openxmlformats.org/drawingml/2006/main">
              <a:ext uri="{FF2B5EF4-FFF2-40B4-BE49-F238E27FC236}">
                <a16:creationId xmlns:a16="http://schemas.microsoft.com/office/drawing/2014/main" id="{88A09918-78FB-443D-A6E6-C8FA9A4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화면에서 직접 편집</a:t>
            </a:r>
          </a:p>
        </p:txBody>
      </p:sp>
      <p:sp>
        <p:nvSpPr>
          <p:cNvPr id="27" name="A/B·펄스 접점과 코일을 배치하고&#10;주소를 블록에 입력합니">
            <a:extLst xmlns:a="http://schemas.openxmlformats.org/drawingml/2006/main">
              <a:ext uri="{FF2B5EF4-FFF2-40B4-BE49-F238E27FC236}">
                <a16:creationId xmlns:a16="http://schemas.microsoft.com/office/drawing/2014/main" id="{0862F553-1DA3-4F6E-88FE-B553A07F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A/B·펄스 접점과 코일을 배치하고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주소를 블록에 입력합니다.</a:t>
            </a:r>
          </a:p>
        </p:txBody>
      </p:sp>
      <p:sp>
        <p:nvSpPr>
          <p:cNvPr id="28" name="WRITE로 상수·주소 처리">
            <a:extLst xmlns:a="http://schemas.openxmlformats.org/drawingml/2006/main">
              <a:ext uri="{FF2B5EF4-FFF2-40B4-BE49-F238E27FC236}">
                <a16:creationId xmlns:a16="http://schemas.microsoft.com/office/drawing/2014/main" id="{676B85CE-3BAB-420E-9DEB-1D978F2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WRITE로 상수·주소 처리</a:t>
            </a:r>
          </a:p>
        </p:txBody>
      </p:sp>
      <p:sp>
        <p:nvSpPr>
          <p:cNvPr id="29" name="Source에 상수 또는 주소를 넣어&#10;데이터 기록·복사를 ">
            <a:extLst xmlns:a="http://schemas.openxmlformats.org/drawingml/2006/main">
              <a:ext uri="{FF2B5EF4-FFF2-40B4-BE49-F238E27FC236}">
                <a16:creationId xmlns:a16="http://schemas.microsoft.com/office/drawing/2014/main" id="{5C70ABD5-94B7-4991-8FA3-971CB12E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Source에 상수 또는 주소를 넣어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데이터 기록·복사를 구성합니다.</a:t>
            </a:r>
          </a:p>
        </p:txBody>
      </p:sp>
      <p:sp>
        <p:nvSpPr>
          <p:cNvPr id="30" name="동작 상태를 눈으로 확인">
            <a:extLst xmlns:a="http://schemas.openxmlformats.org/drawingml/2006/main">
              <a:ext uri="{FF2B5EF4-FFF2-40B4-BE49-F238E27FC236}">
                <a16:creationId xmlns:a16="http://schemas.microsoft.com/office/drawing/2014/main" id="{97D5646B-16AA-4B17-AD6A-2CC891E0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동작 상태를 눈으로 확인</a:t>
            </a:r>
          </a:p>
        </p:txBody>
      </p:sp>
      <p:sp>
        <p:nvSpPr>
          <p:cNvPr id="31" name="참인 블록은 녹색으로 표시하고&#10;주소 모니터와 Ladder ">
            <a:extLst xmlns:a="http://schemas.openxmlformats.org/drawingml/2006/main">
              <a:ext uri="{FF2B5EF4-FFF2-40B4-BE49-F238E27FC236}">
                <a16:creationId xmlns:a16="http://schemas.microsoft.com/office/drawing/2014/main" id="{5D2D007D-4358-4F9A-89BF-BCCC09FF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참인 블록은 녹색으로 표시하고</a:t>
            </a:r>
          </a:p>
          <a:p xmlns:a="http://schemas.openxmlformats.org/drawingml/2006/main">
            <a:pPr algn="l">
              <a:def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주소 모니터와 Ladder Log를 봅니다.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e4b8219bc4a3f"/>
          <a:stretch xmlns:a="http://schemas.openxmlformats.org/drawingml/2006/main"/>
        </p:blipFill>
        <p:spPr>
          <a:xfrm xmlns:a="http://schemas.openxmlformats.org/drawingml/2006/main">
            <a:off x="4000500" y="1676400"/>
            <a:ext cx="7620000" cy="4572000"/>
          </a:xfrm>
          <a:prstGeom xmlns:a="http://schemas.openxmlformats.org/drawingml/2006/main" prst="rect">
            <a:avLst/>
          </a:prstGeom>
        </p:spPr>
      </p:pic>
      <p:sp>
        <p:nvSpPr>
          <p:cNvPr id="33" name="현재 개발 브랜치에 구현된 기능입니다. 제조사 PLC 프로">
            <a:extLst xmlns:a="http://schemas.openxmlformats.org/drawingml/2006/main">
              <a:ext uri="{FF2B5EF4-FFF2-40B4-BE49-F238E27FC236}">
                <a16:creationId xmlns:a16="http://schemas.microsoft.com/office/drawing/2014/main" id="{15060983-C873-4828-AD35-AF016E93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86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현재 개발 브랜치에 구현된 기능입니다. 제조사 PLC 프로그램과의 호환 편집기는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074754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896392a10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적용 분야와 활용 시나리오">
            <a:extLst xmlns:a="http://schemas.openxmlformats.org/drawingml/2006/main">
              <a:ext uri="{FF2B5EF4-FFF2-40B4-BE49-F238E27FC236}">
                <a16:creationId xmlns:a16="http://schemas.microsoft.com/office/drawing/2014/main" id="{670B61F3-4A7D-4E0E-A06B-545982D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적용 분야와 활용 시나리오</a:t>
            </a:r>
          </a:p>
        </p:txBody>
      </p:sp>
      <p:sp>
        <p:nvSpPr>
          <p:cNvPr id="14" name="APPLICATIONS &amp; VALUE">
            <a:extLst xmlns:a="http://schemas.openxmlformats.org/drawingml/2006/main">
              <a:ext uri="{FF2B5EF4-FFF2-40B4-BE49-F238E27FC236}">
                <a16:creationId xmlns:a16="http://schemas.microsoft.com/office/drawing/2014/main" id="{2567443A-6B6D-4117-B63A-F30A0D32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3C0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C73C0"/>
                </a:solidFill>
                <a:latin typeface="Poppins"/>
                <a:ea typeface="Poppins"/>
                <a:cs typeface="Poppins"/>
              </a:rPr>
              <a:t>APPLICATIONS &amp; VALUE</a:t>
            </a:r>
          </a:p>
        </p:txBody>
      </p:sp>
      <p:sp>
        <p:nvSpPr>
          <p:cNvPr id="15" name="09">
            <a:extLst xmlns:a="http://schemas.openxmlformats.org/drawingml/2006/main">
              <a:ext uri="{FF2B5EF4-FFF2-40B4-BE49-F238E27FC236}">
                <a16:creationId xmlns:a16="http://schemas.microsoft.com/office/drawing/2014/main" id="{A72905C1-25F0-459E-B4A7-5783ED66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65A73"/>
                </a:solidFill>
                <a:latin typeface="Poppins"/>
                <a:ea typeface="Poppins"/>
                <a:cs typeface="Poppins"/>
              </a:defRPr>
            </a:pPr>
            <a:r>
              <a:rPr sz="1050" b="0">
                <a:solidFill>
                  <a:srgbClr val="465A73"/>
                </a:solidFill>
                <a:latin typeface="Poppins"/>
                <a:ea typeface="Poppins"/>
                <a:cs typeface="Poppins"/>
              </a:rPr>
              <a:t>09</a:t>
            </a:r>
          </a:p>
        </p:txBody>
      </p:sp>
      <p:sp>
        <p:nvSpPr>
          <p:cNvPr id="16" name="장비 연결 전에도 데이터 처리 흐름을 확인하는 개발 환경">
            <a:extLst xmlns:a="http://schemas.openxmlformats.org/drawingml/2006/main">
              <a:ext uri="{FF2B5EF4-FFF2-40B4-BE49-F238E27FC236}">
                <a16:creationId xmlns:a16="http://schemas.microsoft.com/office/drawing/2014/main" id="{7F0F2C6F-2793-434C-9C66-36DFDB2F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C203F"/>
                </a:solidFill>
                <a:latin typeface="Noto Sans KR"/>
                <a:ea typeface="Noto Sans KR"/>
                <a:cs typeface="Noto Sans KR"/>
              </a:rPr>
              <a:t>장비 연결 전에도 데이터 처리 흐름을 확인하는 개발 환경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619750"/>
                <a:gridCol w="3048000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 분야</a:t>
                      </a:r>
                    </a:p>
                  </a:txBody>
                  <a:tcPr marL="91440" marR="91440" marT="45720" marB="45720">
                    <a:solidFill>
                      <a:srgbClr val="0C2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테스트 내용</a:t>
                      </a:r>
                    </a:p>
                  </a:txBody>
                  <a:tcPr marL="91440" marR="91440" marT="45720" marB="45720">
                    <a:solidFill>
                      <a:srgbClr val="0C2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 기능</a:t>
                      </a:r>
                    </a:p>
                  </a:txBody>
                  <a:tcPr marL="91440" marR="91440" marT="45720" marB="45720">
                    <a:solidFill>
                      <a:srgbClr val="0C203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PLC Driver 개발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주소·자료형에 따른 읽기·쓰기 응답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메모리 모니터, 통신 로그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HMI / SCADA 화면 개발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 변화에 따른 표시·상태 전환 확인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Sim 규칙, Script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ControlLogix 데이터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기본형 태그와 UDT 멤버 접근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태그 모니터, UDT Editor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시나리오 검증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결과·생산 카운트 등 예시 데이터 재현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465A7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정의 맵, Ladder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8" name="개발 단계에서 문제를 재현하고, 실제 장비 검증을 준비합니">
            <a:extLst xmlns:a="http://schemas.openxmlformats.org/drawingml/2006/main">
              <a:ext uri="{FF2B5EF4-FFF2-40B4-BE49-F238E27FC236}">
                <a16:creationId xmlns:a16="http://schemas.microsoft.com/office/drawing/2014/main" id="{F69F5D7F-8196-4EC6-A032-2A73504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C73C0"/>
                </a:solidFill>
                <a:latin typeface="Noto Sans KR"/>
                <a:ea typeface="Noto Sans KR"/>
                <a:cs typeface="Noto Sans KR"/>
              </a:rPr>
              <a:t>개발 단계에서 문제를 재현하고, 실제 장비 검증을 준비합니다</a:t>
            </a:r>
          </a:p>
        </p:txBody>
      </p:sp>
      <p:sp>
        <p:nvSpPr>
          <p:cNvPr id="19" name="도입 효과는 사용하는 프로토콜과 테스트 범위에 따라 달라집">
            <a:extLst xmlns:a="http://schemas.openxmlformats.org/drawingml/2006/main">
              <a:ext uri="{FF2B5EF4-FFF2-40B4-BE49-F238E27FC236}">
                <a16:creationId xmlns:a16="http://schemas.microsoft.com/office/drawing/2014/main" id="{BD7D4102-3104-4809-9212-BE808B15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65A73"/>
                </a:solidFill>
                <a:latin typeface="Noto Sans KR"/>
                <a:ea typeface="Noto Sans KR"/>
                <a:cs typeface="Noto Sans KR"/>
              </a:rPr>
              <a:t>도입 효과는 사용하는 프로토콜과 테스트 범위에 따라 달라집니다. 실제 장비 및 상용 클라이언트 검증과 함께 활용합니다.</a:t>
            </a:r>
          </a:p>
        </p:txBody>
      </p:sp>
    </p:spTree>
    <p:extLst>
      <p:ext uri="{BB962C8B-B14F-4D97-AF65-F5344CB8AC3E}">
        <p14:creationId xmlns:p14="http://schemas.microsoft.com/office/powerpoint/2010/main" val="9359961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6973e245f48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0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1a2569d8d4d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5856" y="182211"/>
            <a:ext cx="1060135" cy="800448"/>
          </a:xfrm>
          <a:prstGeom xmlns:a="http://schemas.openxmlformats.org/drawingml/2006/main" prst="rect">
            <a:avLst/>
          </a:prstGeom>
        </p:spPr>
      </p:pic>
      <p:sp>
        <p:nvSpPr>
          <p:cNvPr id="14" name="PLC Simulator">
            <a:extLst xmlns:a="http://schemas.openxmlformats.org/drawingml/2006/main">
              <a:ext uri="{FF2B5EF4-FFF2-40B4-BE49-F238E27FC236}">
                <a16:creationId xmlns:a16="http://schemas.microsoft.com/office/drawing/2014/main" id="{439A5C1B-87AE-48AB-9DC4-164B52A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43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PLC Simulator</a:t>
            </a:r>
          </a:p>
        </p:txBody>
      </p:sp>
      <p:sp>
        <p:nvSpPr>
          <p:cNvPr id="15" name="PLC 통신 프로그램 개발과 테스트를 위한 가상 장비">
            <a:extLst xmlns:a="http://schemas.openxmlformats.org/drawingml/2006/main">
              <a:ext uri="{FF2B5EF4-FFF2-40B4-BE49-F238E27FC236}">
                <a16:creationId xmlns:a16="http://schemas.microsoft.com/office/drawing/2014/main" id="{F6DD2C02-9A7E-4E05-8DE9-CB9978E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BEF1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FBEF1"/>
                </a:solidFill>
                <a:latin typeface="Noto Sans KR"/>
                <a:ea typeface="Noto Sans KR"/>
                <a:cs typeface="Noto Sans KR"/>
              </a:rPr>
              <a:t>PLC 통신 프로그램 개발과 테스트를 위한 가상 장비</a:t>
            </a:r>
          </a:p>
        </p:txBody>
      </p:sp>
      <p:sp>
        <p:nvSpPr>
          <p:cNvPr id="16" name="메모리·태그를 준비하고&#10;테스트 동작을 구성해 클라이언트에서">
            <a:extLst xmlns:a="http://schemas.openxmlformats.org/drawingml/2006/main">
              <a:ext uri="{FF2B5EF4-FFF2-40B4-BE49-F238E27FC236}">
                <a16:creationId xmlns:a16="http://schemas.microsoft.com/office/drawing/2014/main" id="{11527BD3-5B8B-4D90-AFA0-4AC97295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rPr>
              <a:t>메모리·태그를 준비하고</a:t>
            </a:r>
          </a:p>
          <a:p xmlns:a="http://schemas.openxmlformats.org/drawingml/2006/main">
            <a:pPr algn="ctr">
              <a:defRPr sz="202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rPr>
              <a:t>테스트 동작을 구성해 클라이언트에서 확인합니다</a:t>
            </a:r>
          </a:p>
        </p:txBody>
      </p:sp>
      <p:sp>
        <p:nvSpPr>
          <p:cNvPr id="17" name="JAYON Industrial Solutions">
            <a:extLst xmlns:a="http://schemas.openxmlformats.org/drawingml/2006/main">
              <a:ext uri="{FF2B5EF4-FFF2-40B4-BE49-F238E27FC236}">
                <a16:creationId xmlns:a16="http://schemas.microsoft.com/office/drawing/2014/main" id="{A57099BF-ADF0-47E8-9353-8E873F51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244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JAYON Industrial Solutions</a:t>
            </a:r>
          </a:p>
        </p:txBody>
      </p:sp>
      <p:sp>
        <p:nvSpPr>
          <p:cNvPr id="18" name="제품 소개 기준 1.0.51   /   2026.09">
            <a:extLst xmlns:a="http://schemas.openxmlformats.org/drawingml/2006/main">
              <a:ext uri="{FF2B5EF4-FFF2-40B4-BE49-F238E27FC236}">
                <a16:creationId xmlns:a16="http://schemas.microsoft.com/office/drawing/2014/main" id="{68F8A102-845E-435D-B0E2-DDC4361E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150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9B9CE"/>
                </a:solidFill>
                <a:latin typeface="Noto Sans KR"/>
                <a:ea typeface="Noto Sans KR"/>
                <a:cs typeface="Noto Sans KR"/>
              </a:rPr>
              <a:t>제품 소개 기준 1.0.51   /   2026.09</a:t>
            </a:r>
          </a:p>
        </p:txBody>
      </p:sp>
    </p:spTree>
    <p:extLst>
      <p:ext uri="{BB962C8B-B14F-4D97-AF65-F5344CB8AC3E}">
        <p14:creationId xmlns:p14="http://schemas.microsoft.com/office/powerpoint/2010/main" val="19731956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2026-09-29T23:52:50.7320000Z</dcterms:created>
  <dcterms:modified xsi:type="dcterms:W3CDTF">2026-09-29T23:52:50.7320000Z</dcterms:modified>
</coreProperties>
</file>